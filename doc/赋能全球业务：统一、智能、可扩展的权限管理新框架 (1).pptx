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！今天我将向各位汇报一项支撑汇丰全球战略、赋能Apex业务成功的关键举措——重构权限管理框架。我们将直面长期存在的数百个孤立AD组导致的效率低下与安全风险，通过构建统一、智能、可扩展的新平台，为Apex业务的全球化布局奠定坚实基础，同时为汇丰集团的全球权限治理树立新标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我们正在解决一个长期存在的、代价高昂的核心运营问题。目前，我们面临着四大痛点：超过100个独立AD组带来的“管理混乱”、权限不透明导致的“风险隐晦”、跨团队协作延迟造成的“效率低下”，以及系统割裂形成的“数据孤岛”。这些问题每年消耗我们数百万美元的隐形成本，并带来严重的合规风险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此，我们提出全新解决方案，通过“全球Apex统一管控”终结管理混乱，以“精细智能的权限引擎”暴露并控制风险，用“自动化合规流程”将效率提升30%，最终以“自助式业务赋能平台”打破数据孤岛。在展示每一张卡片时，我们可以用一句话强化冲击力：例如提到“管理混乱”，可以说“首先，我们面临着超过100个独立AD组带来的管理混乱问题”；提到“Apex统一”，可以说“我们的Apex统一方案，将把100多个独立AD组整合为单一管控视图，彻底终结混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想象一下，我们面前有一个天平。左边的托盘，装满了不断增重的砝码——持续攀升的运营成本、日益严格的合规要求带来的风险、人为操作可能引发的失误，以及这些问题叠加后导致的业务僵化，让我们举步维艰。这个天平已经严重失衡，左边沉、右边轻，再不调整，就可能彻底倾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右边的托盘，本应承载着支撑银行未来的价值，但现在几乎是空的。通过这次变革，我们要做的，就是把右边的价值砝码一个个加回来：用自动化和数字化提升前所未有的效率与敏捷性，用统一的框架构建坚实的安全与合规防线，用模块化设计支撑未来十年的业务可扩展性，最终实现真正意义上的统一治理。这不仅是一次技术升级，更是一次重新平衡“成本风险”与“业务价值”的战略调整，让银行在新的市场环境中重新站稳脚跟，甚至实现跨越式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这一页，我们来聚焦于整个统一权限治理平台最核心的突破：构建统一的全球资源树。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大家可以看到左边，这代表了我们过去的状态——“数据孤岛”。由于历史原因，每个业务用例都有自己独立的层级树，这直接导致了数据不一致、管理复杂和效率低下等一系列问题。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而右边，是我们现在实现的“统一视图”。这个全新设计的统一全球资源树，是整个新框架的数据基础。我们通过它，将原本分散的Entity实体树、Global Business全局业务树以及Function功能树全部整合起来，进行统一管理。这不仅从根本上解决了长期存在的数据孤岛问题，更重要的是，它为所有权限管理提供了单一、准确的数据源，是我们解决权限混乱问题的关键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平台在实际工作中是如何运作的呢？让我们来看第一个场景：新员工入职。过去，为新员工配置权限是一个复杂、漫长且容易出错的过程，涉及多个工单和团队。而现在，一切都变得非常简单。经理只需在系统中为新员工请求一个角色，系统便会自动触发审批流程，一旦批准，所有必要的权限就能实时、精准地下发到员工账户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场景是实现数据级别的权限控制，比如让员工只能查看自己所在区域的客户数据。在过去，这要么是不可能的，要么就需要开发团队在每个应用中进行大量的硬编码工作，不仅效率低下，还难以维护。而现在，通过我们的新框架，业务管理员可以直接在规则库中进行简单的可视化配置，比如设定“用户区域等于数据区域”这样的规则，就能轻松实现。这背后是我们框架对权限模型的深度抽象和灵活扩展能力，极大地提升了业务的敏捷性和系统的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总结而言，我们的新框架具有四大核心优势，这些优势与汇丰的业务战略和客户价值紧密相连：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首先是真正的全Apex适用性，它是为整个Apex业务设计的，能够覆盖所有的use case，实现统一的权限管理，而不是局限于某个特定区域或功能。这不仅能够支撑未来十年的业务增长，更能帮助汇丰在全球主要市场实现无缝的服务交付和合规运营，为跨国企业客户提供一致、可靠的金融体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其次是无与伦比的权限精细度，这直接回应了金融行业对合规和风险管理的最高要求，确保我们能精准满足不同地区监管政策，同时保护客户数据安全，增强客户对汇丰的信任。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第三是平衡赋能，我们在中央管控与业务创新之间找到了最佳结合点——既能通过统一框架保障集团整体的风险控制标准，又能赋予地区和业务线足够的灵活性，快速响应本地客户需求，驱动产品和服务创新。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面向未来的架构，它无缝融合了IDM（身份管理）能力，并为AI驱动的自动化治理做好了准备，这将帮助汇丰在数字化转型中保持领先，通过技术创新提升运营效率和客户服务质量，为未来的智能金融时代奠定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关于实施路径，我们已经完成了奠基与试点阶段的大部分工作，目前正在进行关键Pod的迁移试点。接下来，我们计划在未来6到12个月内，完成全Apex推广，分批次在所有Apex Use Case中推广，实现统一权限管理的全覆盖。再之后的12到24个月，我们将致力于平台的优化与智能化，包括进行深度的数据分析、与更多安全系统集成，并探索引入AI来辅助权限管理。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我们正在构建的不仅仅是一个技术工具，更是一项全球性的核心运营能力。它将为我们带来前所未有的掌控力、坚实的风险屏障和强大的效率引擎。我们恳请各位领导能够认可此战略方向，并授权我们在全球范围内推广这一框架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最后，再次感谢各位的宝贵时间和聆听。期待在问答环节与大家深入交流，谢谢！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notesSlides/notesSlide3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.png" Type="http://schemas.openxmlformats.org/officeDocument/2006/relationships/image"/><Relationship Id="rId19" Target="../media/image4.svg" Type="http://schemas.openxmlformats.org/officeDocument/2006/relationships/image"/><Relationship Id="rId2" Target="../media/image23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notesSlides/notesSlide5.xml" Type="http://schemas.openxmlformats.org/officeDocument/2006/relationships/notesSlid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16" Target="../media/image63.png" Type="http://schemas.openxmlformats.org/officeDocument/2006/relationships/image"/><Relationship Id="rId17" Target="../media/image64.svg" Type="http://schemas.openxmlformats.org/officeDocument/2006/relationships/image"/><Relationship Id="rId18" Target="../media/image65.png" Type="http://schemas.openxmlformats.org/officeDocument/2006/relationships/image"/><Relationship Id="rId19" Target="../media/image66.svg" Type="http://schemas.openxmlformats.org/officeDocument/2006/relationships/image"/><Relationship Id="rId2" Target="../media/image49.png" Type="http://schemas.openxmlformats.org/officeDocument/2006/relationships/image"/><Relationship Id="rId20" Target="../notesSlides/notesSlide8.xml" Type="http://schemas.openxmlformats.org/officeDocument/2006/relationships/notesSlid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1397000"/>
            <a:ext cx="10972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DB0011"/>
                </a:solidFill>
                <a:latin typeface="Montserrat"/>
                <a:ea typeface="Montserrat"/>
                <a:cs typeface="Montserrat"/>
                <a:sym typeface="Montserrat"/>
              </a:rPr>
              <a:t>赋能Apex 业务：统一、智能、可扩展的权限管理新框架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774" flipH="false" flipV="false">
            <a:off x="1524004" y="3168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76200" cmpd="sng" cap="rnd">
            <a:solidFill>
              <a:srgbClr val="DB001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3556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从数百个孤立的AD组到全球统一的权限治理平台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7161" flipH="false" flipV="false">
            <a:off x="3048007" y="4362450"/>
            <a:ext cx="609603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" y="4572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汇报人：[您的名字/团队] | 日期：2025年12月11日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406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执行摘要：核心问题与解决方案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78" flipH="false" flipV="false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13716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之前：现状痛点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" y="17780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60500" y="1955800"/>
            <a:ext cx="762000" cy="762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571500" y="2870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管理混乱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63900" y="17780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279900" y="1955800"/>
            <a:ext cx="762000" cy="762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390900" y="2870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风险隐晦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" y="36068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60500" y="37846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71500" y="4699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63900" y="36068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279900" y="3784600"/>
            <a:ext cx="762000" cy="762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3390900" y="4699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数据孤岛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89257" flipH="false" flipV="false">
            <a:off x="4063990" y="3448070"/>
            <a:ext cx="40640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001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502400" y="13716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现在：我们的实现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11900" y="17780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327900" y="19558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438900" y="2870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Apex 统一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31300" y="17780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47300" y="1955800"/>
            <a:ext cx="762000" cy="762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258300" y="2870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精细智能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11900" y="36068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327900" y="3784600"/>
            <a:ext cx="762000" cy="762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438900" y="4699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自动合规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131300" y="3606800"/>
            <a:ext cx="2794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203200" blurRad="4064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47300" y="3784600"/>
            <a:ext cx="762000" cy="762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258300" y="4699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业务赋能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3978" flipH="false" flipV="false">
            <a:off x="609604" y="558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2" id="3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5842000"/>
            <a:ext cx="254000" cy="2540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016000" y="5842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赋能业务自助服务，在中央治理下实现敏捷创新。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4064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变革的驱动力：业务与风险视角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72712" flipH="false" flipV="false">
            <a:off x="2793396" y="1708150"/>
            <a:ext cx="66052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397000" y="19050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下沉成本 / 风险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97000" y="26416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FFEBEB">
              <a:alpha val="100000"/>
            </a:srgbClr>
          </a:solidFill>
          <a:ln w="12700" cmpd="sng" cap="flat">
            <a:solidFill>
              <a:srgbClr val="C23631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00200" y="28702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284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运营成本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34290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FFEBEB">
              <a:alpha val="100000"/>
            </a:srgbClr>
          </a:solidFill>
          <a:ln w="12700" cmpd="sng" cap="flat">
            <a:solidFill>
              <a:srgbClr val="C23631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600200" y="36576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3632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合规风险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97000" y="42164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FFEBEB">
              <a:alpha val="100000"/>
            </a:srgbClr>
          </a:solidFill>
          <a:ln w="12700" cmpd="sng" cap="flat">
            <a:solidFill>
              <a:srgbClr val="C23631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600200" y="4445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2032000" y="44196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操作风险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397000" y="50038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FFEBEB">
              <a:alpha val="100000"/>
            </a:srgbClr>
          </a:solidFill>
          <a:ln w="12700" cmpd="sng" cap="flat">
            <a:solidFill>
              <a:srgbClr val="C23631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600200" y="52324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2032000" y="5207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业务僵化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cxnSp>
        <p:nvCxnSpPr>
          <p:cNvPr name="Connector 22" id="22"/>
          <p:cNvCxnSpPr/>
          <p:nvPr/>
        </p:nvCxnSpPr>
        <p:spPr>
          <a:xfrm rot="5369667" flipH="false" flipV="false">
            <a:off x="3949663" y="3930659"/>
            <a:ext cx="431807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493000" y="18542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我们追求的价值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493000" y="25908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EBF3FF">
              <a:alpha val="100000"/>
            </a:srgbClr>
          </a:solidFill>
          <a:ln w="12700" cmpd="sng" cap="flat">
            <a:solidFill>
              <a:srgbClr val="2D6097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96200" y="28194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153400" y="2794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效率与敏捷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93000" y="33782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EBF3FF">
              <a:alpha val="100000"/>
            </a:srgbClr>
          </a:solidFill>
          <a:ln w="12700" cmpd="sng" cap="flat">
            <a:solidFill>
              <a:srgbClr val="2D6097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7696200" y="36068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153400" y="3581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安全与合规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493000" y="41656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EBF3FF">
              <a:alpha val="100000"/>
            </a:srgbClr>
          </a:solidFill>
          <a:ln w="12700" cmpd="sng" cap="flat">
            <a:solidFill>
              <a:srgbClr val="2D6097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7696200" y="43942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153400" y="4368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可扩展性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493000" y="4953000"/>
            <a:ext cx="3048000" cy="711200"/>
          </a:xfrm>
          <a:prstGeom prst="roundRect">
            <a:avLst>
              <a:gd name="adj" fmla="val 14285"/>
            </a:avLst>
          </a:prstGeom>
          <a:solidFill>
            <a:srgbClr val="EBF3FF">
              <a:alpha val="100000"/>
            </a:srgbClr>
          </a:solidFill>
          <a:ln w="12700" cmpd="sng" cap="flat">
            <a:solidFill>
              <a:srgbClr val="2D6097">
                <a:alpha val="18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7696200" y="5181600"/>
            <a:ext cx="254000" cy="2540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8153400" y="5156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统一治理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cxnSp>
        <p:nvCxnSpPr>
          <p:cNvPr name="Connector 40" id="40"/>
          <p:cNvCxnSpPr/>
          <p:nvPr/>
        </p:nvCxnSpPr>
        <p:spPr>
          <a:xfrm rot="5285450" flipH="false" flipV="false">
            <a:off x="5905500" y="1454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04800"/>
            <a:ext cx="10972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核心突破：构建统一的全球资源树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97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过去：数据孤岛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288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每个Use Case都有独立的层级树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5442969" flipH="false" flipV="false">
            <a:off x="889000" y="278761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-8160765" flipH="false" flipV="false">
            <a:off x="783750" y="2025610"/>
            <a:ext cx="7184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-2760765" flipH="false" flipV="false">
            <a:off x="1291829" y="2025610"/>
            <a:ext cx="7184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8039234" flipH="false" flipV="false">
            <a:off x="783750" y="3549690"/>
            <a:ext cx="7184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9" id="9"/>
          <p:cNvCxnSpPr/>
          <p:nvPr/>
        </p:nvCxnSpPr>
        <p:spPr>
          <a:xfrm rot="2639234" flipH="false" flipV="false">
            <a:off x="1291829" y="3549690"/>
            <a:ext cx="7184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295400" y="3200400"/>
            <a:ext cx="203200" cy="2032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" y="1701800"/>
            <a:ext cx="152400" cy="1524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28800" y="1701800"/>
            <a:ext cx="152400" cy="1524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" y="3733800"/>
            <a:ext cx="152400" cy="1524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28800" y="3733800"/>
            <a:ext cx="152400" cy="1524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3556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016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604000" y="1397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现在：统一视图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8288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Entity, Business, Function 树统一管理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5442969" flipH="false" flipV="false">
            <a:off x="8382000" y="278761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762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9" id="19"/>
          <p:cNvCxnSpPr/>
          <p:nvPr/>
        </p:nvCxnSpPr>
        <p:spPr>
          <a:xfrm rot="-9090113" flipH="false" flipV="false">
            <a:off x="7664701" y="1962135"/>
            <a:ext cx="13075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0" id="20"/>
          <p:cNvCxnSpPr/>
          <p:nvPr/>
        </p:nvCxnSpPr>
        <p:spPr>
          <a:xfrm rot="-1776665" flipH="false" flipV="false">
            <a:off x="8807754" y="1962135"/>
            <a:ext cx="13075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1" id="21"/>
          <p:cNvCxnSpPr/>
          <p:nvPr/>
        </p:nvCxnSpPr>
        <p:spPr>
          <a:xfrm rot="9023334" flipH="false" flipV="false">
            <a:off x="7664701" y="3613165"/>
            <a:ext cx="13075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2" id="22"/>
          <p:cNvCxnSpPr/>
          <p:nvPr/>
        </p:nvCxnSpPr>
        <p:spPr>
          <a:xfrm rot="1709886" flipH="false" flipV="false">
            <a:off x="8807754" y="3613165"/>
            <a:ext cx="13075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mpd="sng" cap="flat">
            <a:solidFill>
              <a:srgbClr val="3741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724900" y="3136900"/>
            <a:ext cx="330200" cy="330200"/>
          </a:xfrm>
          <a:prstGeom prst="ellipse">
            <a:avLst/>
          </a:prstGeom>
          <a:solidFill>
            <a:srgbClr val="DB0011">
              <a:alpha val="100000"/>
            </a:srgbClr>
          </a:solidFill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27000" blurRad="508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83500" y="1587500"/>
            <a:ext cx="254000" cy="254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969500" y="1587500"/>
            <a:ext cx="254000" cy="254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83500" y="3873500"/>
            <a:ext cx="254000" cy="254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969500" y="3873500"/>
            <a:ext cx="254000" cy="254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8" id="28"/>
          <p:cNvCxnSpPr/>
          <p:nvPr/>
        </p:nvCxnSpPr>
        <p:spPr>
          <a:xfrm rot="-5457290" flipH="false" flipV="false">
            <a:off x="2286000" y="2533597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9" id="29"/>
          <p:cNvCxnSpPr/>
          <p:nvPr/>
        </p:nvCxnSpPr>
        <p:spPr>
          <a:xfrm rot="-7680939" flipH="false" flipV="false">
            <a:off x="2158962" y="1898599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0" id="30"/>
          <p:cNvCxnSpPr/>
          <p:nvPr/>
        </p:nvCxnSpPr>
        <p:spPr>
          <a:xfrm rot="-3256551" flipH="false" flipV="false">
            <a:off x="2540038" y="1898599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2578100" y="2832100"/>
            <a:ext cx="177800" cy="1778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235200" y="1600200"/>
            <a:ext cx="127000" cy="1270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997200" y="1600200"/>
            <a:ext cx="127000" cy="1270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4" id="34"/>
          <p:cNvCxnSpPr/>
          <p:nvPr/>
        </p:nvCxnSpPr>
        <p:spPr>
          <a:xfrm rot="-5457290" flipH="false" flipV="false">
            <a:off x="1905000" y="4057597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5" id="35"/>
          <p:cNvCxnSpPr/>
          <p:nvPr/>
        </p:nvCxnSpPr>
        <p:spPr>
          <a:xfrm rot="7543448" flipH="false" flipV="false">
            <a:off x="1777962" y="4692701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6" id="36"/>
          <p:cNvCxnSpPr/>
          <p:nvPr/>
        </p:nvCxnSpPr>
        <p:spPr>
          <a:xfrm rot="3119060" flipH="false" flipV="false">
            <a:off x="2159038" y="4692701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2197100" y="4356100"/>
            <a:ext cx="177800" cy="1778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854200" y="4902200"/>
            <a:ext cx="127000" cy="1270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2616200" y="4902200"/>
            <a:ext cx="127000" cy="127000"/>
          </a:xfrm>
          <a:prstGeom prst="ellipse">
            <a:avLst/>
          </a:prstGeom>
          <a:solidFill>
            <a:srgbClr val="9CA3AF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985000" y="13970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Entity Tree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271000" y="13970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Business Tree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985000" y="42545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Tree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508000"/>
            <a:ext cx="1097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它是如何工作的：场景一：新员工入职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78" flipH="false" flipV="false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001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1524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(复杂)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19812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CCCCCC">
                <a:alpha val="100000"/>
              </a:srgbClr>
            </a:solidFill>
            <a:prstDash val="solid"/>
            <a:round/>
          </a:ln>
          <a:effectLst>
            <a:outerShdw dir="5400000" dist="101600" blurRad="2540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2606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2235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多个工单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70200" y="27432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09600" y="30480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CCCCCC">
                <a:alpha val="100000"/>
              </a:srgbClr>
            </a:solidFill>
            <a:prstDash val="solid"/>
            <a:round/>
          </a:ln>
          <a:effectLst>
            <a:outerShdw dir="5400000" dist="101600" blurRad="2540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" y="33274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19200" y="3302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多个团队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70200" y="3810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09600" y="41148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CCCCCC">
                <a:alpha val="100000"/>
              </a:srgbClr>
            </a:solidFill>
            <a:prstDash val="solid"/>
            <a:round/>
          </a:ln>
          <a:effectLst>
            <a:outerShdw dir="5400000" dist="101600" blurRad="2540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2800" y="43942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19200" y="4368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手动添加至多个AD组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70200" y="48768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09600" y="51816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CCCCCC">
                <a:alpha val="100000"/>
              </a:srgbClr>
            </a:solidFill>
            <a:prstDash val="solid"/>
            <a:round/>
          </a:ln>
          <a:effectLst>
            <a:outerShdw dir="5400000" dist="101600" blurRad="254000" algn="tl" rotWithShape="false">
              <a:srgbClr val="000000">
                <a:alpha val="12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2800" y="5461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219200" y="543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等待 -&gt; 易出错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90006" flipH="false" flipV="false">
            <a:off x="3911600" y="37020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502400" y="1524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(简单)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02400" y="19812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</a:ln>
          <a:effectLst>
            <a:outerShdw dir="5400000" dist="127000" blurRad="304800" algn="tl" rotWithShape="false">
              <a:srgbClr val="DB0011">
                <a:alpha val="2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705600" y="22606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2235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经理请求一个角色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763000" y="2717800"/>
            <a:ext cx="330200" cy="330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502400" y="30480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</a:ln>
          <a:effectLst>
            <a:outerShdw dir="5400000" dist="127000" blurRad="304800" algn="tl" rotWithShape="false">
              <a:srgbClr val="DB0011">
                <a:alpha val="2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705600" y="33274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112000" y="3302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自动触发审批流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763000" y="3784600"/>
            <a:ext cx="330200" cy="330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502400" y="41148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</a:ln>
          <a:effectLst>
            <a:outerShdw dir="5400000" dist="127000" blurRad="304800" algn="tl" rotWithShape="false">
              <a:srgbClr val="DB0011">
                <a:alpha val="2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705600" y="4394200"/>
            <a:ext cx="254000" cy="2540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7112000" y="4368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一次批准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763000" y="4851400"/>
            <a:ext cx="330200" cy="3302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6502400" y="5181600"/>
            <a:ext cx="4826000" cy="711200"/>
          </a:xfrm>
          <a:prstGeom prst="roundRect">
            <a:avLst>
              <a:gd name="adj" fmla="val 21428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</a:ln>
          <a:effectLst>
            <a:outerShdw dir="5400000" dist="127000" blurRad="304800" algn="tl" rotWithShape="false">
              <a:srgbClr val="DB0011">
                <a:alpha val="2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705600" y="5461000"/>
            <a:ext cx="254000" cy="254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7112000" y="543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权限实时下发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它是如何工作的：场景二：实现数据级权限控制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78" flipH="false" flipV="false">
            <a:off x="609604" y="1162050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14732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(不可能或硬编码)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09600" y="2133600"/>
            <a:ext cx="254000" cy="254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1209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要么做不到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09600" y="26416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6289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要么需要在每个应用里写死逻辑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74723" flipH="false" flipV="false">
            <a:off x="5232377" y="2432097"/>
            <a:ext cx="172724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502400" y="14732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(配置化)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02400" y="21336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08800" y="21209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Pod管理员在“规则库”中配置一条策略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02400" y="26416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08800" y="26289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示例规则：`用户“区域”属性 == 数据“区域”属性`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3556000"/>
            <a:ext cx="10972800" cy="1930400"/>
          </a:xfrm>
          <a:prstGeom prst="roundRect">
            <a:avLst>
              <a:gd name="adj" fmla="val 7894"/>
            </a:avLst>
          </a:prstGeom>
          <a:solidFill>
            <a:srgbClr val="F5F5F5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5400000" dist="127000" blurRad="317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" y="37846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37719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策略配置界面 (示例)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172" flipH="false" flipV="false">
            <a:off x="863604" y="4235450"/>
            <a:ext cx="1046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117600" y="44958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用户属性: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41600" y="4457700"/>
            <a:ext cx="22860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区域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435600" y="44958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操作符: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05600" y="4457700"/>
            <a:ext cx="15240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等于 (==)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17600" y="50292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数据属性: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641600" y="4991100"/>
            <a:ext cx="22860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区域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906000" y="4978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DB0011">
              <a:alpha val="100000"/>
            </a:srgbClr>
          </a:solidFill>
          <a:ln w="12700" cmpd="sng" cap="flat">
            <a:solidFill>
              <a:srgbClr val="BE000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保存规则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04800"/>
            <a:ext cx="109728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核心优势与差异化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78" flipH="false" flipV="false">
            <a:off x="609604" y="136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DB001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1701800"/>
            <a:ext cx="2552700" cy="3302000"/>
          </a:xfrm>
          <a:prstGeom prst="roundRect">
            <a:avLst>
              <a:gd name="adj" fmla="val 15920"/>
            </a:avLst>
          </a:prstGeom>
          <a:gradFill rotWithShape="true">
            <a:gsLst>
              <a:gs pos="0">
                <a:srgbClr val="FFFFFF">
                  <a:alpha val="100000"/>
                </a:srgbClr>
              </a:gs>
              <a:gs pos="100000">
                <a:srgbClr val="F3F4F6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355600" blurRad="6096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22400" y="2006600"/>
            <a:ext cx="914400" cy="914400"/>
          </a:xfrm>
          <a:prstGeom prst="rect">
            <a:avLst/>
          </a:prstGeom>
          <a:effectLst>
            <a:outerShdw dir="5400000" dist="279400" blurRad="482600" algn="tl" rotWithShape="false">
              <a:srgbClr val="000000">
                <a:alpha val="16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320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全Apex适用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16300" y="1701800"/>
            <a:ext cx="2552700" cy="3302000"/>
          </a:xfrm>
          <a:prstGeom prst="roundRect">
            <a:avLst>
              <a:gd name="adj" fmla="val 15920"/>
            </a:avLst>
          </a:prstGeom>
          <a:gradFill rotWithShape="true">
            <a:gsLst>
              <a:gs pos="0">
                <a:srgbClr val="FFFFFF">
                  <a:alpha val="100000"/>
                </a:srgbClr>
              </a:gs>
              <a:gs pos="100000">
                <a:srgbClr val="F3F4F6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355600" blurRad="6096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29100" y="2006600"/>
            <a:ext cx="914400" cy="914400"/>
          </a:xfrm>
          <a:prstGeom prst="rect">
            <a:avLst/>
          </a:prstGeom>
          <a:effectLst>
            <a:outerShdw dir="5400000" dist="279400" blurRad="482600" algn="tl" rotWithShape="false">
              <a:srgbClr val="000000">
                <a:alpha val="16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3568700" y="320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极致精细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01800"/>
            <a:ext cx="2552700" cy="3302000"/>
          </a:xfrm>
          <a:prstGeom prst="roundRect">
            <a:avLst>
              <a:gd name="adj" fmla="val 15920"/>
            </a:avLst>
          </a:prstGeom>
          <a:gradFill rotWithShape="true">
            <a:gsLst>
              <a:gs pos="0">
                <a:srgbClr val="FFFFFF">
                  <a:alpha val="100000"/>
                </a:srgbClr>
              </a:gs>
              <a:gs pos="100000">
                <a:srgbClr val="F3F4F6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355600" blurRad="6096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035800" y="2006600"/>
            <a:ext cx="914400" cy="914400"/>
          </a:xfrm>
          <a:prstGeom prst="rect">
            <a:avLst/>
          </a:prstGeom>
          <a:effectLst>
            <a:outerShdw dir="5400000" dist="279400" blurRad="482600" algn="tl" rotWithShape="false">
              <a:srgbClr val="000000">
                <a:alpha val="16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375400" y="320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平衡赋能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29700" y="1701800"/>
            <a:ext cx="2552700" cy="3302000"/>
          </a:xfrm>
          <a:prstGeom prst="roundRect">
            <a:avLst>
              <a:gd name="adj" fmla="val 15920"/>
            </a:avLst>
          </a:prstGeom>
          <a:gradFill rotWithShape="true">
            <a:gsLst>
              <a:gs pos="0">
                <a:srgbClr val="FFFFFF">
                  <a:alpha val="100000"/>
                </a:srgbClr>
              </a:gs>
              <a:gs pos="100000">
                <a:srgbClr val="F3F4F6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355600" blurRad="6096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842500" y="2006600"/>
            <a:ext cx="914400" cy="914400"/>
          </a:xfrm>
          <a:prstGeom prst="rect">
            <a:avLst/>
          </a:prstGeom>
          <a:effectLst>
            <a:outerShdw dir="5400000" dist="279400" blurRad="482600" algn="tl" rotWithShape="false">
              <a:srgbClr val="000000">
                <a:alpha val="16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9182100" y="320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未来就绪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-12700000" y="-12700000"/>
            <a:ext cx="12700" cy="12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532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CCCC">
                <a:alpha val="9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实施路径与下一步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996" flipH="false" flipV="false">
            <a:off x="2336805" y="3295650"/>
            <a:ext cx="873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2032000"/>
            <a:ext cx="3454400" cy="2540000"/>
          </a:xfrm>
          <a:prstGeom prst="roundRect">
            <a:avLst>
              <a:gd name="adj" fmla="val 72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08200" y="2184400"/>
            <a:ext cx="457200" cy="457200"/>
          </a:xfrm>
          <a:prstGeom prst="ellipse">
            <a:avLst/>
          </a:prstGeom>
          <a:solidFill>
            <a:srgbClr val="DC2626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76200" blurRad="1524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27178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1: 奠基与试点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17600" y="32004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990600" y="35306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需求完成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235200" y="32004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108200" y="3530600"/>
            <a:ext cx="121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平台核心构建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676400" y="3937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49400" y="4267200"/>
            <a:ext cx="121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迁移试点中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68800" y="2032000"/>
            <a:ext cx="3454400" cy="2540000"/>
          </a:xfrm>
          <a:prstGeom prst="roundRect">
            <a:avLst>
              <a:gd name="adj" fmla="val 72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67400" y="2184400"/>
            <a:ext cx="457200" cy="457200"/>
          </a:xfrm>
          <a:prstGeom prst="ellipse">
            <a:avLst/>
          </a:prstGeom>
          <a:solidFill>
            <a:srgbClr val="DC2626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76200" blurRad="1524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27178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2: 全Apex推广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080000" y="32004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953000" y="35306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迁移手册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197600" y="32004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588000" y="3505200"/>
            <a:ext cx="2235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分批次在所有Apex Use Case中推广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638800" y="40894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511800" y="4419600"/>
            <a:ext cx="142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全球支持团队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2032000"/>
            <a:ext cx="3454400" cy="2540000"/>
          </a:xfrm>
          <a:prstGeom prst="roundRect">
            <a:avLst>
              <a:gd name="adj" fmla="val 72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26600" y="2184400"/>
            <a:ext cx="457200" cy="457200"/>
          </a:xfrm>
          <a:prstGeom prst="ellipse">
            <a:avLst/>
          </a:prstGeom>
          <a:solidFill>
            <a:srgbClr val="DC2626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76200" blurRad="1524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31200" y="27178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3: 优化与智能化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839200" y="32004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12200" y="3530600"/>
            <a:ext cx="1320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深度分析报告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956800" y="32004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829800" y="3530600"/>
            <a:ext cx="1320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安全生态集成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9398000" y="40894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271000" y="4419600"/>
            <a:ext cx="121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AI辅助优化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09600" y="4978400"/>
            <a:ext cx="1097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从奠基到引领，我们的路径清晰，目标明确，旨在构建一个更安全、更智能的未来。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445000" y="34290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(未来6-12个月)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1905000"/>
            <a:ext cx="9144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4323" flipH="false" flipV="false">
            <a:off x="4572013" y="412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524000" y="4508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