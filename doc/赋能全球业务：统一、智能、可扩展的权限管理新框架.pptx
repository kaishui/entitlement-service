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notesSlides/notesSlide1.xml" Type="http://schemas.openxmlformats.org/officeDocument/2006/relationships/notesSlide"/><Relationship Id="rId19" Target="notesSlides/notesSlide2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notesSlides/notesSlide7.xml" Type="http://schemas.openxmlformats.org/officeDocument/2006/relationships/notesSlide"/><Relationship Id="rId25" Target="notesSlides/notesSlide8.xml" Type="http://schemas.openxmlformats.org/officeDocument/2006/relationships/notesSlide"/><Relationship Id="rId26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尊敬的各位领导，下午好。今天我将向大家汇报一项旨在赋能全球业务的重要举措——一个统一、智能且可扩展的权限管理新框架。我们的目标是彻底改变过去依赖数百个孤立AD组的局面，构建一个真正的全球统一权限治理平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简单来说，我们正在解决一个长期存在的、代价高昂的核心运营问题。目前，我们面临着管理混乱、风险隐晦、效率低下和本地化孤岛这四大痛点。这些问题每年都在消耗我们大量的隐形成本，并带来了严重的合规风险。为此，我们提出了一个全新的解决方案，它将实现全球统一管控、提供精细智能的权限控制、内建自动化与合规流程，并最终赋能业务部门，实现自助服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为什么现在必须进行变革？从业务和风险的视角来看，当前的状况就像一个不断下沉的天平。左侧是持续增长的成本和风险，包括高昂的运营成本、严峻的合规风险、潜在的操作风险以及由此导致的业务僵化。而右侧，是我们通过变革可以实现的巨大价值：前所未有的效率与敏捷性、坚实的安全与合规保障、支撑未来十年增长的可扩展性，以及CIO办公室真正需要的全局治理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实现这一价值，我们设计并构建了一个全新的统一权限治理平台。这个平台采用了分层架构，自上而下分别是治理与呈现层、核心服务层和配置与数据层。治理层提供了统一的管理门户和审计报告；核心服务层是平台的大脑，包含了智能的策略决策引擎和关键的“全球资源树”；最底层的配置与数据层则负责动态的策略配置和与现有系统的集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个平台在实际工作中是如何运作的呢？让我们来看第一个场景：新员工入职。过去，为新员工配置权限是一个复杂、漫长且容易出错的过程，涉及多个工单和团队。而现在，一切都变得非常简单。经理只需在系统中为新员工请求一个角色，系统便会自动触发审批流程，一旦批准，所有必要的权限就能实时、精准地下发到员工账户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场景是实现数据级别的权限控制，比如让员工只能查看自己所在区域的客户数据。在过去，这要么是不可能的，要么就需要开发团队在每个应用中进行大量的硬编码工作。而现在，通过我们的平台，业务管理员可以直接在规则库中进行简单的配置，比如设定“用户区域等于数据区域”这样的规则，就能轻松实现。这极大地提升了灵活性和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而言，我们的新框架具有四大核心优势。首先，它具备真正的全球可扩展性，能够在保持全球策略一致性的同时，适应各区域的差异化需求。其次，它提供了无与伦比的权限精细度，能够满足最严格的合规要求。第三，它巧妙地平衡了中央管控与业务赋能，既保证了安全，又激发了创新。最后，这是一个面向未来的架构，能够与我们现有的IDM系统无缝融合，并为未来引入AI等智能化技术预留了空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关于实施路径，我们已经完成了奠基与试点阶段的大部分工作，目前正在进行关键Pod的迁移试点。接下来，我们计划在未来6到12个月内，完成全球范围内的推广。再之后的12到24个月，我们将致力于平台的优化与智能化，包括进行深度的数据分析、与更多安全系统集成，并探索引入AI来辅助权限管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而言之，我们正在构建的不仅仅是一个技术工具，更是一项全球性的核心运营能力。它将为我们带来前所未有的掌控力、坚实的风险屏障和强大的效率引擎。我们恳请各位领导能够认可此战略方向，并授权我们在全球范围内推广这一框架。我的汇报到此结束，感谢各位的聆听，接下来是问答环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6.sv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13" Target="../media/image19.png" Type="http://schemas.openxmlformats.org/officeDocument/2006/relationships/image"/><Relationship Id="rId14" Target="../media/image20.svg" Type="http://schemas.openxmlformats.org/officeDocument/2006/relationships/image"/><Relationship Id="rId15" Target="../media/image21.png" Type="http://schemas.openxmlformats.org/officeDocument/2006/relationships/image"/><Relationship Id="rId16" Target="../media/image22.svg" Type="http://schemas.openxmlformats.org/officeDocument/2006/relationships/image"/><Relationship Id="rId17" Target="../media/image23.png" Type="http://schemas.openxmlformats.org/officeDocument/2006/relationships/image"/><Relationship Id="rId18" Target="../media/image24.svg" Type="http://schemas.openxmlformats.org/officeDocument/2006/relationships/image"/><Relationship Id="rId19" Target="../notesSlides/notesSlide3.xml" Type="http://schemas.openxmlformats.org/officeDocument/2006/relationships/notesSlide"/><Relationship Id="rId2" Target="../media/image2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2.svg" Type="http://schemas.openxmlformats.org/officeDocument/2006/relationships/image"/><Relationship Id="rId11" Target="../notesSlides/notesSlide4.xml" Type="http://schemas.openxmlformats.org/officeDocument/2006/relationships/notesSlide"/><Relationship Id="rId2" Target="../media/image2.jpe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0.svg" Type="http://schemas.openxmlformats.org/officeDocument/2006/relationships/image"/><Relationship Id="rId11" Target="../media/image41.png" Type="http://schemas.openxmlformats.org/officeDocument/2006/relationships/image"/><Relationship Id="rId12" Target="../media/image42.svg" Type="http://schemas.openxmlformats.org/officeDocument/2006/relationships/image"/><Relationship Id="rId13" Target="../media/image43.png" Type="http://schemas.openxmlformats.org/officeDocument/2006/relationships/image"/><Relationship Id="rId14" Target="../media/image44.svg" Type="http://schemas.openxmlformats.org/officeDocument/2006/relationships/image"/><Relationship Id="rId15" Target="../media/image45.png" Type="http://schemas.openxmlformats.org/officeDocument/2006/relationships/image"/><Relationship Id="rId16" Target="../media/image46.svg" Type="http://schemas.openxmlformats.org/officeDocument/2006/relationships/image"/><Relationship Id="rId17" Target="../media/image47.png" Type="http://schemas.openxmlformats.org/officeDocument/2006/relationships/image"/><Relationship Id="rId18" Target="../media/image48.svg" Type="http://schemas.openxmlformats.org/officeDocument/2006/relationships/image"/><Relationship Id="rId19" Target="../media/image49.png" Type="http://schemas.openxmlformats.org/officeDocument/2006/relationships/image"/><Relationship Id="rId2" Target="../media/image2.jpeg" Type="http://schemas.openxmlformats.org/officeDocument/2006/relationships/image"/><Relationship Id="rId20" Target="../media/image50.svg" Type="http://schemas.openxmlformats.org/officeDocument/2006/relationships/image"/><Relationship Id="rId21" Target="../notesSlides/notesSlide5.xml" Type="http://schemas.openxmlformats.org/officeDocument/2006/relationships/notesSlid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35.png" Type="http://schemas.openxmlformats.org/officeDocument/2006/relationships/image"/><Relationship Id="rId6" Target="../media/image36.svg" Type="http://schemas.openxmlformats.org/officeDocument/2006/relationships/image"/><Relationship Id="rId7" Target="../media/image37.png" Type="http://schemas.openxmlformats.org/officeDocument/2006/relationships/image"/><Relationship Id="rId8" Target="../media/image38.sv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51.png" Type="http://schemas.openxmlformats.org/officeDocument/2006/relationships/image"/><Relationship Id="rId7" Target="../media/image52.svg" Type="http://schemas.openxmlformats.org/officeDocument/2006/relationships/image"/><Relationship Id="rId8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0.svg" Type="http://schemas.openxmlformats.org/officeDocument/2006/relationships/image"/><Relationship Id="rId11" Target="../notesSlides/notesSlide7.xml" Type="http://schemas.openxmlformats.org/officeDocument/2006/relationships/notesSlide"/><Relationship Id="rId2" Target="../media/image2.jpeg" Type="http://schemas.openxmlformats.org/officeDocument/2006/relationships/image"/><Relationship Id="rId3" Target="../media/image53.png" Type="http://schemas.openxmlformats.org/officeDocument/2006/relationships/image"/><Relationship Id="rId4" Target="../media/image54.svg" Type="http://schemas.openxmlformats.org/officeDocument/2006/relationships/image"/><Relationship Id="rId5" Target="../media/image55.png" Type="http://schemas.openxmlformats.org/officeDocument/2006/relationships/image"/><Relationship Id="rId6" Target="../media/image56.svg" Type="http://schemas.openxmlformats.org/officeDocument/2006/relationships/image"/><Relationship Id="rId7" Target="../media/image57.png" Type="http://schemas.openxmlformats.org/officeDocument/2006/relationships/image"/><Relationship Id="rId8" Target="../media/image58.sv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4.svg" Type="http://schemas.openxmlformats.org/officeDocument/2006/relationships/image"/><Relationship Id="rId11" Target="../notesSlides/notesSlide8.xml" Type="http://schemas.openxmlformats.org/officeDocument/2006/relationships/notesSlide"/><Relationship Id="rId2" Target="../media/image2.jpeg" Type="http://schemas.openxmlformats.org/officeDocument/2006/relationships/image"/><Relationship Id="rId3" Target="../media/image61.png" Type="http://schemas.openxmlformats.org/officeDocument/2006/relationships/image"/><Relationship Id="rId4" Target="../media/image62.svg" Type="http://schemas.openxmlformats.org/officeDocument/2006/relationships/image"/><Relationship Id="rId5" Target="../media/image63.png" Type="http://schemas.openxmlformats.org/officeDocument/2006/relationships/image"/><Relationship Id="rId6" Target="../media/image64.svg" Type="http://schemas.openxmlformats.org/officeDocument/2006/relationships/image"/><Relationship Id="rId7" Target="../media/image65.png" Type="http://schemas.openxmlformats.org/officeDocument/2006/relationships/image"/><Relationship Id="rId8" Target="../media/image66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7.jpeg" Type="http://schemas.openxmlformats.org/officeDocument/2006/relationships/image"/><Relationship Id="rId3" Target="../notesSlides/notesSlide9.xml" Type="http://schemas.openxmlformats.org/officeDocument/2006/relationships/notesSlide"/><Relationship Id="rId4" Target="../media/image6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21875" b="2187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032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赋能全球业务：统一、智能、可扩展的权限管理新框架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5461032" y="32321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rnd">
            <a:solidFill>
              <a:srgbClr val="DB0011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651000" y="35560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从数百个孤立的AD组到全球统一的权限治理平台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8594" flipH="false" flipV="false">
            <a:off x="3556008" y="4311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2286000" y="4572000"/>
            <a:ext cx="762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汇报人：[您的名字/团队] | 日期：2025年12月11日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5000"/>
          </a:blip>
          <a:srcRect l="0" r="0" t="21875" b="2187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609600" y="609600"/>
            <a:ext cx="109728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执行摘要：解决核心运营问题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3978" flipH="false" flipV="false">
            <a:off x="609604" y="1162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B0011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609600" y="15748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现状痛点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09600" y="21844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117600" y="2197100"/>
            <a:ext cx="457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管理混乱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17600" y="25527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超过100个独立AD组，无人有全局视角。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09600" y="32766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117600" y="3289300"/>
            <a:ext cx="457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风险隐晦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117600" y="36449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权限过度授予、僵尸账户难以发现。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09600" y="43688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117600" y="4381500"/>
            <a:ext cx="457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效率低下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117600" y="47371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新应用上线/权限变更需数周手动配置。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5387979" flipH="false" flipV="false">
            <a:off x="4279900" y="3384561"/>
            <a:ext cx="3632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0B0B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6502400" y="15748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我们的解决方案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02400" y="21844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010400" y="2197100"/>
            <a:ext cx="457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全球统一管控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010400" y="25527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一个平台，管理全球所有应用权限。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02400" y="32766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7010400" y="3289300"/>
            <a:ext cx="457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精细智能控制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010400" y="36449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从页面到数据字段级的动态授权。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02400" y="4368800"/>
            <a:ext cx="304800" cy="3048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7010400" y="4381500"/>
            <a:ext cx="457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自动化与合规内建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010400" y="47371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流程自动化，审计轨迹完整。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3978" flipH="false" flipV="false">
            <a:off x="609604" y="54546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0B0B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7" id="2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09600" y="5715000"/>
            <a:ext cx="254000" cy="2540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1016000" y="5715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赋能业务自助服务，在中央治理下实现敏捷创新。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21875" b="2187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508000"/>
            <a:ext cx="1016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变革的驱动力：业务与风险视角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1162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B5563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609600" y="1524000"/>
            <a:ext cx="533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DB0011"/>
                </a:solidFill>
                <a:latin typeface="Noto Sans SC"/>
                <a:ea typeface="Noto Sans SC"/>
                <a:cs typeface="Noto Sans SC"/>
                <a:sym typeface="Noto Sans SC"/>
              </a:rPr>
              <a:t>下沉成本/风险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09600" y="20828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066800" y="2095500"/>
            <a:ext cx="482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运营成本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66800" y="24384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数百AD组的手动维护、工单处理。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09600" y="31496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066800" y="3162300"/>
            <a:ext cx="482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合规风险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66800" y="35052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SOX，GDPR，内部审计不合规罚款。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09600" y="42164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066800" y="4229100"/>
            <a:ext cx="482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操作风险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66800" y="4572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权限滥用或错误导致的数据泄露、误操作。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09600" y="52832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066800" y="5295900"/>
            <a:ext cx="482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业务僵化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66800" y="56388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新业务上线慢，权限模型无法快速适配。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5390450" flipH="false" flipV="false">
            <a:off x="3810000" y="3803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B5563">
                <a:alpha val="7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6502400" y="1524000"/>
            <a:ext cx="533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我们追求的价值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502400" y="20828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959600" y="2095500"/>
            <a:ext cx="482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效率与敏捷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959600" y="24384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自动化流程，快速响应业务。</a:t>
            </a:r>
            <a:endParaRPr lang="en-US" sz="1100"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502400" y="3149600"/>
            <a:ext cx="304800" cy="3048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6959600" y="3162300"/>
            <a:ext cx="482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安全与合规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959600" y="35052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主动风控，满足全球监管要求。</a:t>
            </a:r>
            <a:endParaRPr lang="en-US" sz="1100"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6502400" y="4216400"/>
            <a:ext cx="304800" cy="3048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6959600" y="4229100"/>
            <a:ext cx="482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可扩展性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959600" y="4572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支撑未来5-10年全球业务增长。</a:t>
            </a:r>
            <a:endParaRPr lang="en-US" sz="1100"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 flipH="false" flipV="false">
            <a:off x="6502400" y="5283200"/>
            <a:ext cx="304800" cy="3048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6959600" y="5295900"/>
            <a:ext cx="482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统一治理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959600" y="56388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CIO办公室拥有全局视图和控制力。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21875" b="2187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600" y="609600"/>
            <a:ext cx="109728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我们构建了什么：统一权限治理平台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12128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B0011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609600" y="1524000"/>
            <a:ext cx="10972800" cy="1397000"/>
          </a:xfrm>
          <a:prstGeom prst="roundRect">
            <a:avLst>
              <a:gd name="adj" fmla="val 7272"/>
            </a:avLst>
          </a:prstGeom>
          <a:solidFill>
            <a:srgbClr val="1F2937">
              <a:alpha val="70000"/>
            </a:srgbClr>
          </a:solidFill>
          <a:ln w="12700" cmpd="sng" cap="flat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14400" y="17526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71600" y="17526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治理与呈现层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371600" y="2260600"/>
            <a:ext cx="203200" cy="2032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676400" y="2260600"/>
            <a:ext cx="4445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统一管理门户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350000" y="2260600"/>
            <a:ext cx="203200" cy="2032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654800" y="2260600"/>
            <a:ext cx="4445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全局审计报告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09600" y="3111500"/>
            <a:ext cx="10972800" cy="1397000"/>
          </a:xfrm>
          <a:prstGeom prst="roundRect">
            <a:avLst>
              <a:gd name="adj" fmla="val 7272"/>
            </a:avLst>
          </a:prstGeom>
          <a:solidFill>
            <a:srgbClr val="1F2937">
              <a:alpha val="70000"/>
            </a:srgbClr>
          </a:solidFill>
          <a:ln w="12700" cmpd="sng" cap="flat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14400" y="33401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371600" y="33401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核心服务层 (大脑)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371600" y="3848100"/>
            <a:ext cx="203200" cy="2032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676400" y="3848100"/>
            <a:ext cx="4445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策略决策点 (RBAC + ABAC 混合引擎)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350000" y="3848100"/>
            <a:ext cx="203200" cy="2032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6654800" y="3848100"/>
            <a:ext cx="4445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统一数据模型 (全球资源树)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09600" y="4699000"/>
            <a:ext cx="10972800" cy="1397000"/>
          </a:xfrm>
          <a:prstGeom prst="roundRect">
            <a:avLst>
              <a:gd name="adj" fmla="val 7272"/>
            </a:avLst>
          </a:prstGeom>
          <a:solidFill>
            <a:srgbClr val="1F2937">
              <a:alpha val="70000"/>
            </a:srgbClr>
          </a:solidFill>
          <a:ln w="12700" cmpd="sng" cap="flat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14400" y="49276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1371600" y="49276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配置与数据层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371600" y="5435600"/>
            <a:ext cx="203200" cy="2032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1676400" y="5435600"/>
            <a:ext cx="4445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动态策略配置中心 (业务可配置的规则库)</a:t>
            </a:r>
            <a:endParaRPr lang="en-US" sz="1100"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350000" y="5435600"/>
            <a:ext cx="203200" cy="2032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6654800" y="5435600"/>
            <a:ext cx="4445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身份与数据源 (与AD、HR、IDM集成)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21875" b="2187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600" y="609600"/>
            <a:ext cx="109728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它是如何工作的：场景一：新员工入职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12128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B0011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609600" y="15240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Before (复杂)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09600" y="2082800"/>
            <a:ext cx="4826000" cy="609600"/>
          </a:xfrm>
          <a:prstGeom prst="roundRect">
            <a:avLst>
              <a:gd name="adj" fmla="val 16666"/>
            </a:avLst>
          </a:prstGeom>
          <a:solidFill>
            <a:srgbClr val="374151">
              <a:alpha val="60000"/>
            </a:srgbClr>
          </a:solidFill>
          <a:ln w="12700" cmpd="sng" cap="flat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812800" y="2260600"/>
            <a:ext cx="254000" cy="254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219200" y="22352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多个工单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2895600" y="2794000"/>
            <a:ext cx="254000" cy="254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09600" y="3149600"/>
            <a:ext cx="4826000" cy="609600"/>
          </a:xfrm>
          <a:prstGeom prst="roundRect">
            <a:avLst>
              <a:gd name="adj" fmla="val 16666"/>
            </a:avLst>
          </a:prstGeom>
          <a:solidFill>
            <a:srgbClr val="374151">
              <a:alpha val="60000"/>
            </a:srgbClr>
          </a:solidFill>
          <a:ln w="12700" cmpd="sng" cap="flat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12800" y="3327400"/>
            <a:ext cx="254000" cy="254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219200" y="33020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多个团队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2895600" y="3860800"/>
            <a:ext cx="254000" cy="254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09600" y="4216400"/>
            <a:ext cx="4826000" cy="609600"/>
          </a:xfrm>
          <a:prstGeom prst="roundRect">
            <a:avLst>
              <a:gd name="adj" fmla="val 16666"/>
            </a:avLst>
          </a:prstGeom>
          <a:solidFill>
            <a:srgbClr val="374151">
              <a:alpha val="60000"/>
            </a:srgbClr>
          </a:solidFill>
          <a:ln w="12700" cmpd="sng" cap="flat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12800" y="4394200"/>
            <a:ext cx="254000" cy="254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219200" y="43688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手动添加至多个AD组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2895600" y="4927600"/>
            <a:ext cx="254000" cy="2540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609600" y="5283200"/>
            <a:ext cx="4826000" cy="609600"/>
          </a:xfrm>
          <a:prstGeom prst="roundRect">
            <a:avLst>
              <a:gd name="adj" fmla="val 16666"/>
            </a:avLst>
          </a:prstGeom>
          <a:solidFill>
            <a:srgbClr val="374151">
              <a:alpha val="60000"/>
            </a:srgbClr>
          </a:solidFill>
          <a:ln w="12700" cmpd="sng" cap="flat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812800" y="5461000"/>
            <a:ext cx="254000" cy="2540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219200" y="54356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等待 -&gt; 易出错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5390006" flipH="false" flipV="false">
            <a:off x="3911600" y="3702059"/>
            <a:ext cx="4368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B7280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6502400" y="15240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After (简单)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502400" y="2082800"/>
            <a:ext cx="4826000" cy="609600"/>
          </a:xfrm>
          <a:prstGeom prst="roundRect">
            <a:avLst>
              <a:gd name="adj" fmla="val 16666"/>
            </a:avLst>
          </a:prstGeom>
          <a:solidFill>
            <a:srgbClr val="1E293B">
              <a:alpha val="80000"/>
            </a:srgbClr>
          </a:solidFill>
          <a:ln w="12700" cmpd="sng" cap="flat">
            <a:solidFill>
              <a:srgbClr val="DB001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705600" y="2260600"/>
            <a:ext cx="254000" cy="2540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7112000" y="22352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经理请求一个角色</a:t>
            </a:r>
            <a:endParaRPr lang="en-US" sz="1100"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8788400" y="2794000"/>
            <a:ext cx="254000" cy="2540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6502400" y="3149600"/>
            <a:ext cx="4826000" cy="609600"/>
          </a:xfrm>
          <a:prstGeom prst="roundRect">
            <a:avLst>
              <a:gd name="adj" fmla="val 16666"/>
            </a:avLst>
          </a:prstGeom>
          <a:solidFill>
            <a:srgbClr val="1E293B">
              <a:alpha val="80000"/>
            </a:srgbClr>
          </a:solidFill>
          <a:ln w="12700" cmpd="sng" cap="flat">
            <a:solidFill>
              <a:srgbClr val="DB001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6705600" y="3327400"/>
            <a:ext cx="254000" cy="2540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7112000" y="33020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自动触发审批流</a:t>
            </a:r>
            <a:endParaRPr lang="en-US" sz="1100"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8788400" y="3860800"/>
            <a:ext cx="254000" cy="254000"/>
          </a:xfrm>
          <a:prstGeom prst="rect">
            <a:avLst/>
          </a:prstGeom>
        </p:spPr>
      </p:pic>
      <p:sp>
        <p:nvSpPr>
          <p:cNvPr name="AutoShape 32" id="32"/>
          <p:cNvSpPr/>
          <p:nvPr/>
        </p:nvSpPr>
        <p:spPr>
          <a:xfrm rot="0" flipH="false" flipV="false">
            <a:off x="6502400" y="4216400"/>
            <a:ext cx="4826000" cy="609600"/>
          </a:xfrm>
          <a:prstGeom prst="roundRect">
            <a:avLst>
              <a:gd name="adj" fmla="val 16666"/>
            </a:avLst>
          </a:prstGeom>
          <a:solidFill>
            <a:srgbClr val="1E293B">
              <a:alpha val="80000"/>
            </a:srgbClr>
          </a:solidFill>
          <a:ln w="12700" cmpd="sng" cap="flat">
            <a:solidFill>
              <a:srgbClr val="DB001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 flipH="false" flipV="false">
            <a:off x="6705600" y="4394200"/>
            <a:ext cx="254000" cy="254000"/>
          </a:xfrm>
          <a:prstGeom prst="rect">
            <a:avLst/>
          </a:prstGeom>
        </p:spPr>
      </p:pic>
      <p:sp>
        <p:nvSpPr>
          <p:cNvPr name="AutoShape 34" id="34"/>
          <p:cNvSpPr/>
          <p:nvPr/>
        </p:nvSpPr>
        <p:spPr>
          <a:xfrm rot="0" flipH="false" flipV="false">
            <a:off x="7112000" y="43688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一次批准</a:t>
            </a:r>
            <a:endParaRPr lang="en-US" sz="1100"/>
          </a:p>
        </p:txBody>
      </p:sp>
      <p:pic>
        <p:nvPicPr>
          <p:cNvPr name="Picture 35" id="35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8788400" y="4927600"/>
            <a:ext cx="254000" cy="254000"/>
          </a:xfrm>
          <a:prstGeom prst="rect">
            <a:avLst/>
          </a:prstGeom>
        </p:spPr>
      </p:pic>
      <p:sp>
        <p:nvSpPr>
          <p:cNvPr name="AutoShape 36" id="36"/>
          <p:cNvSpPr/>
          <p:nvPr/>
        </p:nvSpPr>
        <p:spPr>
          <a:xfrm rot="0" flipH="false" flipV="false">
            <a:off x="6502400" y="5283200"/>
            <a:ext cx="4826000" cy="609600"/>
          </a:xfrm>
          <a:prstGeom prst="roundRect">
            <a:avLst>
              <a:gd name="adj" fmla="val 16666"/>
            </a:avLst>
          </a:prstGeom>
          <a:solidFill>
            <a:srgbClr val="1E293B">
              <a:alpha val="80000"/>
            </a:srgbClr>
          </a:solidFill>
          <a:ln w="12700" cmpd="sng" cap="flat">
            <a:solidFill>
              <a:srgbClr val="DB001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 flipH="false" flipV="false">
            <a:off x="6705600" y="5461000"/>
            <a:ext cx="254000" cy="254000"/>
          </a:xfrm>
          <a:prstGeom prst="rect">
            <a:avLst/>
          </a:prstGeom>
        </p:spPr>
      </p:pic>
      <p:sp>
        <p:nvSpPr>
          <p:cNvPr name="AutoShape 38" id="38"/>
          <p:cNvSpPr/>
          <p:nvPr/>
        </p:nvSpPr>
        <p:spPr>
          <a:xfrm rot="0" flipH="false" flipV="false">
            <a:off x="7112000" y="54356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权限实时下发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609600"/>
            <a:ext cx="109728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它是如何工作的：场景二：实现数据级权限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78" flipH="false" flipV="false">
            <a:off x="609604" y="1162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609600" y="15748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Before (不可能或硬编码)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09600" y="21844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066800" y="21844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要么做不到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09600" y="2794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066800" y="27940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要么需要在每个应用里写死逻辑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5374722" flipH="false" flipV="false">
            <a:off x="5232400" y="2432073"/>
            <a:ext cx="172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6502400" y="15748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After (配置化)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502400" y="21844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959600" y="21844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Pod管理员在“规则库”中配置一条策略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502400" y="27940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6959600" y="2794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示例规则：`用户“区域”属性 == 数据“区域”属性`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09600" y="3683000"/>
            <a:ext cx="10972800" cy="1778000"/>
          </a:xfrm>
          <a:prstGeom prst="roundRect">
            <a:avLst>
              <a:gd name="adj" fmla="val 5714"/>
            </a:avLst>
          </a:prstGeom>
          <a:solidFill>
            <a:srgbClr val="1F2937">
              <a:alpha val="70000"/>
            </a:srgbClr>
          </a:solidFill>
          <a:ln w="12700" cmpd="sng" cap="flat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63600" y="3886200"/>
            <a:ext cx="254000" cy="254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270000" y="38862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策略配置界面 (示例)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4172" flipH="false" flipV="false">
            <a:off x="863604" y="4311650"/>
            <a:ext cx="1046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B556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1117600" y="4572000"/>
            <a:ext cx="228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用户属性: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276600" y="4546600"/>
            <a:ext cx="2286000" cy="355600"/>
          </a:xfrm>
          <a:prstGeom prst="roundRect">
            <a:avLst>
              <a:gd name="adj" fmla="val 14285"/>
            </a:avLst>
          </a:prstGeom>
          <a:solidFill>
            <a:srgbClr val="111827">
              <a:alpha val="100000"/>
            </a:srgbClr>
          </a:solidFill>
          <a:ln w="12700" cmpd="sng" cap="flat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区域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943600" y="4572000"/>
            <a:ext cx="228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操作符: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213600" y="4546600"/>
            <a:ext cx="2286000" cy="355600"/>
          </a:xfrm>
          <a:prstGeom prst="roundRect">
            <a:avLst>
              <a:gd name="adj" fmla="val 14285"/>
            </a:avLst>
          </a:prstGeom>
          <a:solidFill>
            <a:srgbClr val="111827">
              <a:alpha val="100000"/>
            </a:srgbClr>
          </a:solidFill>
          <a:ln w="12700" cmpd="sng" cap="flat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等于 (==)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117600" y="5080000"/>
            <a:ext cx="228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数据属性: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3276600" y="5054600"/>
            <a:ext cx="2286000" cy="355600"/>
          </a:xfrm>
          <a:prstGeom prst="roundRect">
            <a:avLst>
              <a:gd name="adj" fmla="val 14285"/>
            </a:avLst>
          </a:prstGeom>
          <a:solidFill>
            <a:srgbClr val="111827">
              <a:alpha val="100000"/>
            </a:srgbClr>
          </a:solidFill>
          <a:ln w="12700" cmpd="sng" cap="flat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区域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804400" y="5054600"/>
            <a:ext cx="1524000" cy="355600"/>
          </a:xfrm>
          <a:prstGeom prst="roundRect">
            <a:avLst>
              <a:gd name="adj" fmla="val 14285"/>
            </a:avLst>
          </a:prstGeom>
          <a:solidFill>
            <a:srgbClr val="DB001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保存规则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5000"/>
          </a:blip>
          <a:srcRect l="0" r="0" t="21875" b="2187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609600" y="6096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核心优势与差异化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3978" flipH="false" flipV="false">
            <a:off x="609604" y="12636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B0011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609600" y="1778000"/>
            <a:ext cx="2514600" cy="3302000"/>
          </a:xfrm>
          <a:prstGeom prst="roundRect">
            <a:avLst>
              <a:gd name="adj" fmla="val 4040"/>
            </a:avLst>
          </a:prstGeom>
          <a:solidFill>
            <a:srgbClr val="1F2937">
              <a:alpha val="70000"/>
            </a:srgbClr>
          </a:solidFill>
          <a:ln w="12700" cmpd="sng" cap="flat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612900" y="2082800"/>
            <a:ext cx="508000" cy="508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812800" y="2794000"/>
            <a:ext cx="2108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真正的全球可扩展性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12800" y="3251200"/>
            <a:ext cx="2108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统一数据模型确保全球策略一致，动态配置允许区域差异化。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429000" y="1778000"/>
            <a:ext cx="2514600" cy="3302000"/>
          </a:xfrm>
          <a:prstGeom prst="roundRect">
            <a:avLst>
              <a:gd name="adj" fmla="val 4040"/>
            </a:avLst>
          </a:prstGeom>
          <a:solidFill>
            <a:srgbClr val="1F2937">
              <a:alpha val="70000"/>
            </a:srgbClr>
          </a:solidFill>
          <a:ln w="12700" cmpd="sng" cap="flat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432300" y="2082800"/>
            <a:ext cx="508000" cy="508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3632200" y="2794000"/>
            <a:ext cx="2108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无与伦比的精细度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632200" y="3251200"/>
            <a:ext cx="2108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从粗放的应用访问到精细的数据行级授权。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48400" y="1778000"/>
            <a:ext cx="2514600" cy="3302000"/>
          </a:xfrm>
          <a:prstGeom prst="roundRect">
            <a:avLst>
              <a:gd name="adj" fmla="val 4040"/>
            </a:avLst>
          </a:prstGeom>
          <a:solidFill>
            <a:srgbClr val="1F2937">
              <a:alpha val="70000"/>
            </a:srgbClr>
          </a:solidFill>
          <a:ln w="12700" cmpd="sng" cap="flat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251700" y="2082800"/>
            <a:ext cx="508000" cy="508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451600" y="2794000"/>
            <a:ext cx="2108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赋能与管控的平衡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51600" y="3251200"/>
            <a:ext cx="2108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中央统一管控与业务自助配置相结合。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067800" y="1778000"/>
            <a:ext cx="2514600" cy="3302000"/>
          </a:xfrm>
          <a:prstGeom prst="roundRect">
            <a:avLst>
              <a:gd name="adj" fmla="val 4040"/>
            </a:avLst>
          </a:prstGeom>
          <a:solidFill>
            <a:srgbClr val="1F2937">
              <a:alpha val="70000"/>
            </a:srgbClr>
          </a:solidFill>
          <a:ln w="12700" cmpd="sng" cap="flat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071100" y="2082800"/>
            <a:ext cx="508000" cy="5080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9271000" y="2794000"/>
            <a:ext cx="2108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面向未来的架构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271000" y="3251200"/>
            <a:ext cx="2108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与IDM天然融合，为AI驱动的自动化治理打下基础。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3978" flipH="false" flipV="false">
            <a:off x="609604" y="54546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B5563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0000"/>
          </a:blip>
          <a:srcRect l="0" r="0" t="21875" b="2187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609600" y="6096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实施路径与下一步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3978" flipH="false" flipV="false">
            <a:off x="609604" y="12128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B0011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609600" y="1651000"/>
            <a:ext cx="3454400" cy="3556000"/>
          </a:xfrm>
          <a:prstGeom prst="roundRect">
            <a:avLst>
              <a:gd name="adj" fmla="val 2941"/>
            </a:avLst>
          </a:prstGeom>
          <a:solidFill>
            <a:srgbClr val="1E293B">
              <a:alpha val="70000"/>
            </a:srgbClr>
          </a:solidFill>
          <a:ln w="12700" cmpd="sng" cap="flat">
            <a:solidFill>
              <a:srgbClr val="DB0011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12800" y="18542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DB0011"/>
                </a:solidFill>
                <a:latin typeface="Noto Sans SC"/>
                <a:ea typeface="Noto Sans SC"/>
                <a:cs typeface="Noto Sans SC"/>
                <a:sym typeface="Noto Sans SC"/>
              </a:rPr>
              <a:t>Phase 1: 奠基与试点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12800" y="2209800"/>
            <a:ext cx="304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已完成/进行中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812800" y="2667000"/>
            <a:ext cx="203200" cy="2032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143000" y="26670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访谈所有Pod，收集需求。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812800" y="3302000"/>
            <a:ext cx="203200" cy="2032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143000" y="33020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设计并构建统一平台核心。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812800" y="3937000"/>
            <a:ext cx="203200" cy="2032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143000" y="39370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选择1-2个关键Pod进行迁移试点。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368800" y="1651000"/>
            <a:ext cx="3454400" cy="3556000"/>
          </a:xfrm>
          <a:prstGeom prst="roundRect">
            <a:avLst>
              <a:gd name="adj" fmla="val 2941"/>
            </a:avLst>
          </a:prstGeom>
          <a:solidFill>
            <a:srgbClr val="1E293B">
              <a:alpha val="70000"/>
            </a:srgbClr>
          </a:solidFill>
          <a:ln w="12700" cmpd="sng" cap="flat">
            <a:solidFill>
              <a:srgbClr val="32CD32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572000" y="18542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2CD32"/>
                </a:solidFill>
                <a:latin typeface="Noto Sans SC"/>
                <a:ea typeface="Noto Sans SC"/>
                <a:cs typeface="Noto Sans SC"/>
                <a:sym typeface="Noto Sans SC"/>
              </a:rPr>
              <a:t>Phase 2: 全球推广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572000" y="2209800"/>
            <a:ext cx="304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未来6-12个月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572000" y="2667000"/>
            <a:ext cx="203200" cy="2032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4902200" y="26670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制定全球迁移手册和最佳实践。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572000" y="3302000"/>
            <a:ext cx="203200" cy="2032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4902200" y="33020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分区域、分业务线逐步推广。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572000" y="3937000"/>
            <a:ext cx="203200" cy="2032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4902200" y="39370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建立全球支持团队。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128000" y="1651000"/>
            <a:ext cx="3454400" cy="3556000"/>
          </a:xfrm>
          <a:prstGeom prst="roundRect">
            <a:avLst>
              <a:gd name="adj" fmla="val 2941"/>
            </a:avLst>
          </a:prstGeom>
          <a:solidFill>
            <a:srgbClr val="1E293B">
              <a:alpha val="70000"/>
            </a:srgbClr>
          </a:solidFill>
          <a:ln w="12700" cmpd="sng" cap="flat">
            <a:solidFill>
              <a:srgbClr val="00BFF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331200" y="18542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Phase 3: 优化与智能化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331200" y="2209800"/>
            <a:ext cx="304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未来12-24个月</a:t>
            </a:r>
            <a:endParaRPr lang="en-US" sz="1100"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331200" y="2667000"/>
            <a:ext cx="203200" cy="2032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8661400" y="26670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深度分析与报告：权限使用分析，风险洞察。</a:t>
            </a:r>
            <a:endParaRPr lang="en-US" sz="1100"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331200" y="3302000"/>
            <a:ext cx="203200" cy="2032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8661400" y="33020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与更广泛的安全生态系统集成。</a:t>
            </a:r>
            <a:endParaRPr lang="en-US" sz="1100"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331200" y="3937000"/>
            <a:ext cx="203200" cy="2032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8661400" y="39370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探索AI辅助的权限优化。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09600" y="5461000"/>
            <a:ext cx="10972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从奠基到引领，我们的路径清晰，目标明确，旨在构建一个更安全、更智能的未来。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21875" b="2187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286000" y="2413000"/>
            <a:ext cx="762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6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57290" flipH="false" flipV="false">
            <a:off x="5715053" y="36131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60A5F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2286000" y="38735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Thank You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