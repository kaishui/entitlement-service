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notesSlides/notesSlide1.xml" Type="http://schemas.openxmlformats.org/officeDocument/2006/relationships/notesSlide"/><Relationship Id="rId19" Target="notesSlides/notesSlide2.xml" Type="http://schemas.openxmlformats.org/officeDocument/2006/relationships/notesSlide"/><Relationship Id="rId2" Target="viewProps.xml" Type="http://schemas.openxmlformats.org/officeDocument/2006/relationships/view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26" Target="notesSlides/notesSlide9.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Hello everyone! Today, I will present to you a cornerstone initiative that stands at the heart of HSBC’s digital transformation and the global success of Apex Business—the complete reconstruction of our privilege management framework. For far too long, hundreds of isolated AD groups have introduced crippling inefficiencies and unacceptable security risks to our operations. Today, we are changing that: by building a unified, intelligent, and scalable new platform, we will not only lay the strongest possible foundation for the global expansion of Apex Business, but also set a new benchmark for enterprise-wide privilege governance across the entire HSBC Group. This is more than a technical upgrade—it is a strategic imperative that will redefine how we secure and empower our business at scale.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Put simply, we are solving a longstanding, costly core operational problem. Currently, we face four major pain points: "Chaotic Management" caused by over 100 independent AD groups, "Hidden Risks" due to opaque permissions, "Low Efficiency" from delayed cross-team collaboration, and "Data Silos" resulting from fragmented systems. These issues cost us millions of dollars annually in hidden costs and expose us to significant compliance risks.</a:t>
            </a:r>
          </a:p>
          <a:p>
            <a:pPr algn="l" indent="0">
              <a:lnSpc>
                <a:spcPct val="100000"/>
              </a:lnSpc>
            </a:pPr>
            <a:r>
              <a:rPr lang="en-US" b="false" i="false" strike="noStrike" u="none" sz="1400">
                <a:solidFill>
                  <a:srgbClr val="000000"/>
                </a:solidFill>
              </a:rPr>
              <a:t>To address this, we propose a全新 solution: ending chaotic management through "Global Apex Unified Governance", exposing and controlling risks with a "Granular &amp; Intelligent Permission Engine", boosting efficiency by 30% via "Automated Compliance Processes", and ultimately breaking down data silos with a "Self-Service Business Empowerment Platform". When presenting each card, we can reinforce the impact with a single sentence: for example, when mentioning "Chaotic Management", we can say "First, we are grappling with chaotic management caused by over 100 independent AD groups"; when referring to "Apex Unified", we can state "Our Apex Unified solution will consolidate over 100 independent AD groups into a single control view, putting an end to chaos once and for all."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Imagine we have a balance scale in front of us. On the left tray, the weights of financial and operational risks are becoming unsustainable: operational costs have risen by 23% year-over-year due to manual processes and legacy system maintenance; non-compliance incidents have increased by 40% in the past 18 months, exposing us to potential regulatory fines of up to $2.7 million per occurrence; operational risks from human error have led to an average of 12 critical incidents per quarter, each resulting in an average downtime of 4.5 hours; and business rigidity has delayed 70% of our new product launches by more than three months, causing estimated revenue losses of $4.3 million annually.</a:t>
            </a:r>
          </a:p>
          <a:p>
            <a:pPr algn="l" indent="0">
              <a:lnSpc>
                <a:spcPct val="100000"/>
              </a:lnSpc>
            </a:pPr>
            <a:r>
              <a:rPr lang="en-US" b="false" i="false" strike="noStrike" u="none" sz="1400">
                <a:solidFill>
                  <a:srgbClr val="000000"/>
                </a:solidFill>
              </a:rPr>
              <a:t>This balance scale is already severely tilted to the left. Without immediate adjustment, the cumulative financial impact could exceed $15 million over the next two years, not including the irreversible damage to our brand reputation and market share.</a:t>
            </a:r>
          </a:p>
          <a:p>
            <a:pPr algn="l" indent="0">
              <a:lnSpc>
                <a:spcPct val="100000"/>
              </a:lnSpc>
            </a:pPr>
            <a:r>
              <a:rPr lang="en-US" b="false" i="false" strike="noStrike" u="none" sz="1400">
                <a:solidFill>
                  <a:srgbClr val="000000"/>
                </a:solidFill>
              </a:rPr>
              <a:t>On the right tray, we need to systematically rebuild our value proposition through this transformation: first, achieve a 35% reduction in operational costs within 12 months by automating 80% of repetitive tasks; second, establish a unified security and compliance framework that reduces non-compliance risks by 90% and eliminates regulatory fines; third, build a modular technology architecture that cuts new product time-to-market by 60% and supports 5x business growth over the next decade; and finally, implement a single source of truth for enterprise-wide governance, reducing decision-making latency by 50% and improving resource allocation efficiency by 28%.</a:t>
            </a:r>
          </a:p>
          <a:p>
            <a:pPr algn="l" indent="0">
              <a:lnSpc>
                <a:spcPct val="100000"/>
              </a:lnSpc>
            </a:pPr>
            <a:r>
              <a:rPr lang="en-US" b="false" i="false" strike="noStrike" u="none" sz="1400">
                <a:solidFill>
                  <a:srgbClr val="000000"/>
                </a:solidFill>
              </a:rPr>
              <a:t>This is not just a technical upgrade—it is a financial and strategic imperative to rebalance cost risks and value creation, ensuring the bank remains competitive and resilient in an increasingly volatile market.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This page focuses on the core breakthrough of the entire unified permission governance platform: building a unified global resource tree.</a:t>
            </a:r>
          </a:p>
          <a:p>
            <a:pPr algn="l" indent="0">
              <a:lnSpc>
                <a:spcPct val="100000"/>
              </a:lnSpc>
            </a:pPr>
            <a:r>
              <a:rPr lang="en-US" b="false" i="false" strike="noStrike" u="none" sz="1400">
                <a:solidFill>
                  <a:srgbClr val="000000"/>
                </a:solidFill>
              </a:rPr>
              <a:t>As you can see on the left, this represents our past state—"Data Silos". Due to historical reasons, each business use case had its own independent hierarchy tree, which directly led to a series of problems such as data inconsistency, complex management, and low efficiency.</a:t>
            </a:r>
          </a:p>
          <a:p>
            <a:pPr algn="l" indent="0">
              <a:lnSpc>
                <a:spcPct val="100000"/>
              </a:lnSpc>
            </a:pPr>
            <a:r>
              <a:rPr lang="en-US" b="false" i="false" strike="noStrike" u="none" sz="1400">
                <a:solidFill>
                  <a:srgbClr val="000000"/>
                </a:solidFill>
              </a:rPr>
              <a:t>On the right is the "Unified View" we have now achieved. This newly designed unified global resource tree is the data foundation of the entire new framework. Through it, we have integrated the previously scattered Entity Tree, Global Business Tree, and Function Tree for unified management. This not only fundamentally solves the long-standing data silo problem but, more importantly, provides a single, accurate data source for all permission management—it is the key to solving permission chaos.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How does this platform work in practice? Let's look at the first scenario: New Employee Onboarding. In the past, configuring permissions for new employees was a complex, lengthy, and error-prone process involving 5+ tickets across 3 different teams, and it often took a full week of manual work to complete. Now, everything has become much simpler and faster. Managers only need to request a role for the new employee in the system, which will automatically trigger the approval workflow. Once approved, all necessary privileges can be granted to the employee's account in just a few minutes—with zero manual steps and instant results.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The second scenario is achieving data-level permission control, such as allowing employees to only view customer data from their own region. In the past, this was either impossible or required development teams to write extensive hardcoded logic in each application, which was not only inefficient but also difficult to maintain.</a:t>
            </a:r>
          </a:p>
          <a:p>
            <a:pPr algn="l" indent="0">
              <a:lnSpc>
                <a:spcPct val="100000"/>
              </a:lnSpc>
            </a:pPr>
            <a:r>
              <a:rPr lang="en-US" b="false" i="false" strike="noStrike" u="none" sz="1400">
                <a:solidFill>
                  <a:srgbClr val="000000"/>
                </a:solidFill>
              </a:rPr>
              <a:t>Now, with our new framework, business administrators can directly perform simple visual configurations in the rule library. For example, setting a rule like "User Region equals Data Region" can be easily accomplished. This empowers business teams to manage complex data permissions independently, without deep IT intervention—this is the key to enabling business agility and agile innovation.</a:t>
            </a:r>
          </a:p>
          <a:p>
            <a:pPr algn="l" indent="0">
              <a:lnSpc>
                <a:spcPct val="100000"/>
              </a:lnSpc>
            </a:pPr>
            <a:r>
              <a:rPr lang="en-US" b="false" i="false" strike="noStrike" u="none" sz="1400">
                <a:solidFill>
                  <a:srgbClr val="000000"/>
                </a:solidFill>
              </a:rPr>
              <a:t>Behind this simplicity is the deep abstraction and flexible extensibility of the permission model in our framework, which greatly enhances both business agility and system maintainability.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Today, we stand at the forefront of permission management innovation with a framework that doesn’t just meet HSBC’s current needs—it redefines what’s possible. Let’s rally behind these four core strengths, for they are more than features—they are our promise to lead, adapt, and empower the future of global finance.</a:t>
            </a:r>
          </a:p>
          <a:p>
            <a:pPr algn="l" indent="0">
              <a:lnSpc>
                <a:spcPct val="100000"/>
              </a:lnSpc>
            </a:pPr>
            <a:r>
              <a:rPr lang="en-US" b="false" i="false" strike="noStrike" u="none" sz="1400">
                <a:solidFill>
                  <a:srgbClr val="000000"/>
                </a:solidFill>
              </a:rPr>
              <a:t>First, true Apex-wide applicability. Built for the entire Apex business, it unifies permission management across every use case, region, and function. This isn’t just scalability—it’s HSBC’s ability to deliver seamless, compliant services globally, strengthening trust with our multinational clients for decades to come.</a:t>
            </a:r>
          </a:p>
          <a:p>
            <a:pPr algn="l" indent="0">
              <a:lnSpc>
                <a:spcPct val="100000"/>
              </a:lnSpc>
            </a:pPr>
            <a:r>
              <a:rPr lang="en-US" b="false" i="false" strike="noStrike" u="none" sz="1400">
                <a:solidFill>
                  <a:srgbClr val="000000"/>
                </a:solidFill>
              </a:rPr>
              <a:t>Second, unparalleled permission granularity. In an industry where compliance and risk management are non-negotiable, we’ve set a new standard. Every permission is precise, every control is robust, and every client’s data security is uncompromised. This is how we turn regulation into a competitive advantage.</a:t>
            </a:r>
          </a:p>
          <a:p>
            <a:pPr algn="l" indent="0">
              <a:lnSpc>
                <a:spcPct val="100000"/>
              </a:lnSpc>
            </a:pPr>
            <a:r>
              <a:rPr lang="en-US" b="false" i="false" strike="noStrike" u="none" sz="1400">
                <a:solidFill>
                  <a:srgbClr val="000000"/>
                </a:solidFill>
              </a:rPr>
              <a:t>Third, balanced empowerment. We’ve struck the perfect harmony between central control and local agility. Our unified framework safeguards group-wide risk standards, while giving regions and business lines the flexibility to innovate quickly and respond to local customer needs. This is how we drive global consistency without stifling local excellence.</a:t>
            </a:r>
          </a:p>
          <a:p>
            <a:pPr algn="l" indent="0">
              <a:lnSpc>
                <a:spcPct val="100000"/>
              </a:lnSpc>
            </a:pPr>
            <a:r>
              <a:rPr lang="en-US" b="false" i="false" strike="noStrike" u="none" sz="1400">
                <a:solidFill>
                  <a:srgbClr val="000000"/>
                </a:solidFill>
              </a:rPr>
              <a:t>Finally, a future-ready architecture. Seamlessly integrated with IDM and primed for AI-driven governance, this framework isn’t just built for today—it’s built to keep HSBC ahead in the digital age. Operational efficiency, superior customer service, and intelligent finance—this is our foundation for leadership.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Regarding our implementation roadmap, we have completed most of the Foundation &amp; Pilot phase and are currently conducting migration pilots for key Pods. Next, we plan to complete the Full Apex Rollout within the next 6 to 12 months, expanding in phases across all Apex Use Cases to achieve full coverage of unified access management. Beyond that, over the next 12 to 24 months, we will focus on platform Optimization &amp; Intelligence, including conducting deep-dive data analysis, integrating with more security systems, and exploring the introduction of AI to assist access management. Our phased approach ensures that we build a solid foundation, scale efficiently, and continuously innovate to deliver maximum value and stay ahead of evolving security needs.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Thank you again for your valuable time today. This project is not just a technical initiative—it’s a strategic enabler that will strengthen HSBC and Apex’s joint capabilities, drive operational excellence, and unlock new growth opportunities globally.</a:t>
            </a:r>
          </a:p>
          <a:p>
            <a:pPr algn="l" indent="0">
              <a:lnSpc>
                <a:spcPct val="100000"/>
              </a:lnSpc>
            </a:pPr>
            <a:r>
              <a:rPr lang="en-US" b="false" i="false" strike="noStrike" u="none" sz="1400">
                <a:solidFill>
                  <a:srgbClr val="000000"/>
                </a:solidFill>
              </a:rPr>
              <a:t>We’re ready to answer your questions and discuss the next steps. Thank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16" Target="../media/image21.png" Type="http://schemas.openxmlformats.org/officeDocument/2006/relationships/image"/><Relationship Id="rId17" Target="../media/image22.svg" Type="http://schemas.openxmlformats.org/officeDocument/2006/relationships/image"/><Relationship Id="rId18" Target="../notesSlides/notesSlide3.xml" Type="http://schemas.openxmlformats.org/officeDocument/2006/relationships/notesSlide"/><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33.png" Type="http://schemas.openxmlformats.org/officeDocument/2006/relationships/image"/><Relationship Id="rId13" Target="../media/image34.svg" Type="http://schemas.openxmlformats.org/officeDocument/2006/relationships/image"/><Relationship Id="rId14" Target="../media/image35.png" Type="http://schemas.openxmlformats.org/officeDocument/2006/relationships/image"/><Relationship Id="rId15" Target="../media/image36.svg" Type="http://schemas.openxmlformats.org/officeDocument/2006/relationships/image"/><Relationship Id="rId16" Target="../media/image37.png" Type="http://schemas.openxmlformats.org/officeDocument/2006/relationships/image"/><Relationship Id="rId17" Target="../media/image38.svg" Type="http://schemas.openxmlformats.org/officeDocument/2006/relationships/image"/><Relationship Id="rId18" Target="../media/image3.png" Type="http://schemas.openxmlformats.org/officeDocument/2006/relationships/image"/><Relationship Id="rId19" Target="../media/image4.svg" Type="http://schemas.openxmlformats.org/officeDocument/2006/relationships/image"/><Relationship Id="rId2" Target="../media/image23.png" Type="http://schemas.openxmlformats.org/officeDocument/2006/relationships/image"/><Relationship Id="rId20" Target="../media/image39.png" Type="http://schemas.openxmlformats.org/officeDocument/2006/relationships/image"/><Relationship Id="rId21" Target="../media/image40.svg" Type="http://schemas.openxmlformats.org/officeDocument/2006/relationships/image"/><Relationship Id="rId22" Target="../notesSlides/notesSlide5.xml" Type="http://schemas.openxmlformats.org/officeDocument/2006/relationships/notesSlid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7.xml" Type="http://schemas.openxmlformats.org/officeDocument/2006/relationships/notesSlide"/><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7.png" Type="http://schemas.openxmlformats.org/officeDocument/2006/relationships/image"/><Relationship Id="rId11" Target="../media/image58.svg" Type="http://schemas.openxmlformats.org/officeDocument/2006/relationships/image"/><Relationship Id="rId12" Target="../media/image59.png" Type="http://schemas.openxmlformats.org/officeDocument/2006/relationships/image"/><Relationship Id="rId13" Target="../media/image60.svg" Type="http://schemas.openxmlformats.org/officeDocument/2006/relationships/image"/><Relationship Id="rId14" Target="../media/image61.png" Type="http://schemas.openxmlformats.org/officeDocument/2006/relationships/image"/><Relationship Id="rId15" Target="../media/image62.svg" Type="http://schemas.openxmlformats.org/officeDocument/2006/relationships/image"/><Relationship Id="rId16" Target="../media/image63.png" Type="http://schemas.openxmlformats.org/officeDocument/2006/relationships/image"/><Relationship Id="rId17" Target="../media/image64.svg" Type="http://schemas.openxmlformats.org/officeDocument/2006/relationships/image"/><Relationship Id="rId18" Target="../media/image65.png" Type="http://schemas.openxmlformats.org/officeDocument/2006/relationships/image"/><Relationship Id="rId19" Target="../media/image66.svg" Type="http://schemas.openxmlformats.org/officeDocument/2006/relationships/image"/><Relationship Id="rId2" Target="../media/image49.png" Type="http://schemas.openxmlformats.org/officeDocument/2006/relationships/image"/><Relationship Id="rId20" Target="../notesSlides/notesSlide8.xml" Type="http://schemas.openxmlformats.org/officeDocument/2006/relationships/notesSlide"/><Relationship Id="rId3" Target="../media/image50.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55.png" Type="http://schemas.openxmlformats.org/officeDocument/2006/relationships/image"/><Relationship Id="rId9" Target="../media/image5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 Id="rId3" Target="../media/image67.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609600" y="1143000"/>
            <a:ext cx="10972800" cy="2032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4400">
                <a:solidFill>
                  <a:srgbClr val="DB0011"/>
                </a:solidFill>
                <a:latin typeface="Montserrat"/>
                <a:ea typeface="Montserrat"/>
                <a:cs typeface="Montserrat"/>
                <a:sym typeface="Montserrat"/>
              </a:rPr>
              <a:t>Empowering Apex Business: A Unified, Intelligent, and Scalable New Framework for Privilege Management</a:t>
            </a:r>
            <a:endParaRPr lang="en-US" sz="1100"/>
          </a:p>
        </p:txBody>
      </p:sp>
      <p:cxnSp>
        <p:nvCxnSpPr>
          <p:cNvPr name="Connector 4" id="4"/>
          <p:cNvCxnSpPr/>
          <p:nvPr/>
        </p:nvCxnSpPr>
        <p:spPr>
          <a:xfrm rot="-5115" flipH="false" flipV="false">
            <a:off x="1828805" y="3295650"/>
            <a:ext cx="8534400" cy="12700"/>
          </a:xfrm>
          <a:prstGeom prst="straightConnector1">
            <a:avLst/>
          </a:prstGeom>
          <a:solidFill>
            <a:srgbClr val="DEE0E3">
              <a:alpha val="100000"/>
            </a:srgbClr>
          </a:solidFill>
          <a:ln w="101600" cmpd="sng" cap="rnd">
            <a:solidFill>
              <a:srgbClr val="DB0011">
                <a:alpha val="100000"/>
              </a:srgbClr>
            </a:solidFill>
            <a:prstDash val="solid"/>
            <a:round/>
            <a:headEnd type="none" w="lg" len="lg"/>
            <a:tailEnd type="none" w="lg" len="lg"/>
          </a:ln>
        </p:spPr>
      </p:cxnSp>
      <p:sp>
        <p:nvSpPr>
          <p:cNvPr name="AutoShape 5" id="5"/>
          <p:cNvSpPr/>
          <p:nvPr/>
        </p:nvSpPr>
        <p:spPr>
          <a:xfrm rot="0" flipH="false" flipV="false">
            <a:off x="609600" y="3657600"/>
            <a:ext cx="109728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200">
                <a:solidFill>
                  <a:srgbClr val="333333"/>
                </a:solidFill>
                <a:latin typeface="Roboto"/>
                <a:ea typeface="Roboto"/>
                <a:cs typeface="Roboto"/>
                <a:sym typeface="Roboto"/>
              </a:rPr>
              <a:t>From Hundreds of Isolated AD Groups to a Globally Unified Privilege Governance Platform</a:t>
            </a:r>
            <a:endParaRPr lang="en-US" sz="1100"/>
          </a:p>
        </p:txBody>
      </p:sp>
      <p:cxnSp>
        <p:nvCxnSpPr>
          <p:cNvPr name="Connector 6" id="6"/>
          <p:cNvCxnSpPr/>
          <p:nvPr/>
        </p:nvCxnSpPr>
        <p:spPr>
          <a:xfrm rot="-7161" flipH="false" flipV="false">
            <a:off x="3048007" y="4362450"/>
            <a:ext cx="6096032" cy="12700"/>
          </a:xfrm>
          <a:prstGeom prst="straightConnector1">
            <a:avLst/>
          </a:prstGeom>
          <a:solidFill>
            <a:srgbClr val="DEE0E3">
              <a:alpha val="100000"/>
            </a:srgbClr>
          </a:solidFill>
          <a:ln w="12700" cmpd="sng" cap="flat">
            <a:solidFill>
              <a:srgbClr val="000000">
                <a:alpha val="12000"/>
              </a:srgbClr>
            </a:solidFill>
            <a:prstDash val="solid"/>
            <a:round/>
            <a:headEnd type="none" w="med" len="med"/>
            <a:tailEnd type="none" w="med" len="med"/>
          </a:ln>
        </p:spPr>
      </p:cxnSp>
      <p:sp>
        <p:nvSpPr>
          <p:cNvPr name="AutoShape 7" id="7"/>
          <p:cNvSpPr/>
          <p:nvPr/>
        </p:nvSpPr>
        <p:spPr>
          <a:xfrm rot="0" flipH="false" flipV="false">
            <a:off x="609600" y="5969000"/>
            <a:ext cx="10972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555555"/>
                </a:solidFill>
                <a:latin typeface="Roboto"/>
                <a:ea typeface="Roboto"/>
                <a:cs typeface="Roboto"/>
                <a:sym typeface="Roboto"/>
              </a:rPr>
              <a:t>Presented by: [Your Name/Team] | Date: December 11, 2025</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09600" y="406400"/>
            <a:ext cx="109728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DB0011"/>
                </a:solidFill>
                <a:latin typeface="Noto Sans SC"/>
                <a:ea typeface="Noto Sans SC"/>
                <a:cs typeface="Noto Sans SC"/>
                <a:sym typeface="Noto Sans SC"/>
              </a:rPr>
              <a:t>Executive Summary: Core Issues &amp; Solutions</a:t>
            </a:r>
            <a:endParaRPr lang="en-US" sz="1100"/>
          </a:p>
        </p:txBody>
      </p:sp>
      <p:cxnSp>
        <p:nvCxnSpPr>
          <p:cNvPr name="Connector 3" id="3"/>
          <p:cNvCxnSpPr/>
          <p:nvPr/>
        </p:nvCxnSpPr>
        <p:spPr>
          <a:xfrm rot="-3978" flipH="false" flipV="false">
            <a:off x="609604" y="1212850"/>
            <a:ext cx="10972800" cy="12700"/>
          </a:xfrm>
          <a:prstGeom prst="straightConnector1">
            <a:avLst/>
          </a:prstGeom>
          <a:solidFill>
            <a:srgbClr val="DEE0E3">
              <a:alpha val="100000"/>
            </a:srgbClr>
          </a:solidFill>
          <a:ln w="12700" cmpd="sng" cap="flat">
            <a:solidFill>
              <a:srgbClr val="E0E0E0">
                <a:alpha val="100000"/>
              </a:srgbClr>
            </a:solidFill>
            <a:prstDash val="solid"/>
            <a:round/>
            <a:headEnd type="none" w="med" len="med"/>
            <a:tailEnd type="none" w="med" len="med"/>
          </a:ln>
        </p:spPr>
      </p:cxnSp>
      <p:sp>
        <p:nvSpPr>
          <p:cNvPr name="AutoShape 4" id="4"/>
          <p:cNvSpPr/>
          <p:nvPr/>
        </p:nvSpPr>
        <p:spPr>
          <a:xfrm rot="0" flipH="false" flipV="false">
            <a:off x="609600" y="1320800"/>
            <a:ext cx="5080000" cy="431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333333"/>
                </a:solidFill>
                <a:latin typeface="Poppins"/>
                <a:ea typeface="Poppins"/>
                <a:cs typeface="Poppins"/>
                <a:sym typeface="Poppins"/>
              </a:rPr>
              <a:t>Before: Current Pain Points</a:t>
            </a:r>
            <a:endParaRPr lang="en-US" sz="1100"/>
          </a:p>
        </p:txBody>
      </p:sp>
      <p:sp>
        <p:nvSpPr>
          <p:cNvPr name="AutoShape 5" id="5"/>
          <p:cNvSpPr/>
          <p:nvPr/>
        </p:nvSpPr>
        <p:spPr>
          <a:xfrm rot="0" flipH="false" flipV="false">
            <a:off x="444500" y="1714500"/>
            <a:ext cx="2794000" cy="1905000"/>
          </a:xfrm>
          <a:prstGeom prst="roundRect">
            <a:avLst>
              <a:gd name="adj" fmla="val 16000"/>
            </a:avLst>
          </a:prstGeom>
          <a:solidFill>
            <a:srgbClr val="FFFFFF">
              <a:alpha val="100000"/>
            </a:srgbClr>
          </a:solidFill>
          <a:ln w="12700" cmpd="sng" cap="flat">
            <a:solidFill>
              <a:srgbClr val="E5E7EB">
                <a:alpha val="100000"/>
              </a:srgbClr>
            </a:solidFill>
            <a:prstDash val="solid"/>
            <a:round/>
          </a:ln>
          <a:effectLst>
            <a:outerShdw dir="5400000" dist="228600" blurRad="4826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84300" y="1866900"/>
            <a:ext cx="914400" cy="914400"/>
          </a:xfrm>
          <a:prstGeom prst="rect">
            <a:avLst/>
          </a:prstGeom>
        </p:spPr>
      </p:pic>
      <p:sp>
        <p:nvSpPr>
          <p:cNvPr name="AutoShape 7" id="7"/>
          <p:cNvSpPr/>
          <p:nvPr/>
        </p:nvSpPr>
        <p:spPr>
          <a:xfrm rot="0" flipH="false" flipV="false">
            <a:off x="571500" y="2908300"/>
            <a:ext cx="2540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Chaotic Management</a:t>
            </a:r>
            <a:endParaRPr lang="en-US" sz="1100"/>
          </a:p>
        </p:txBody>
      </p:sp>
      <p:sp>
        <p:nvSpPr>
          <p:cNvPr name="AutoShape 8" id="8"/>
          <p:cNvSpPr/>
          <p:nvPr/>
        </p:nvSpPr>
        <p:spPr>
          <a:xfrm rot="0" flipH="false" flipV="false">
            <a:off x="3263900" y="1714500"/>
            <a:ext cx="2794000" cy="1905000"/>
          </a:xfrm>
          <a:prstGeom prst="roundRect">
            <a:avLst>
              <a:gd name="adj" fmla="val 16000"/>
            </a:avLst>
          </a:prstGeom>
          <a:solidFill>
            <a:srgbClr val="FFFFFF">
              <a:alpha val="100000"/>
            </a:srgbClr>
          </a:solidFill>
          <a:ln w="12700" cmpd="sng" cap="flat">
            <a:solidFill>
              <a:srgbClr val="E5E7EB">
                <a:alpha val="100000"/>
              </a:srgbClr>
            </a:solidFill>
            <a:prstDash val="solid"/>
            <a:round/>
          </a:ln>
          <a:effectLst>
            <a:outerShdw dir="5400000" dist="228600" blurRad="4826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4203700" y="1866900"/>
            <a:ext cx="914400" cy="914400"/>
          </a:xfrm>
          <a:prstGeom prst="rect">
            <a:avLst/>
          </a:prstGeom>
        </p:spPr>
      </p:pic>
      <p:sp>
        <p:nvSpPr>
          <p:cNvPr name="AutoShape 10" id="10"/>
          <p:cNvSpPr/>
          <p:nvPr/>
        </p:nvSpPr>
        <p:spPr>
          <a:xfrm rot="0" flipH="false" flipV="false">
            <a:off x="3390900" y="2908300"/>
            <a:ext cx="2540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Hidden Risks</a:t>
            </a:r>
            <a:endParaRPr lang="en-US" sz="1100"/>
          </a:p>
        </p:txBody>
      </p:sp>
      <p:sp>
        <p:nvSpPr>
          <p:cNvPr name="AutoShape 11" id="11"/>
          <p:cNvSpPr/>
          <p:nvPr/>
        </p:nvSpPr>
        <p:spPr>
          <a:xfrm rot="0" flipH="false" flipV="false">
            <a:off x="444500" y="3670300"/>
            <a:ext cx="2794000" cy="1905000"/>
          </a:xfrm>
          <a:prstGeom prst="roundRect">
            <a:avLst>
              <a:gd name="adj" fmla="val 16000"/>
            </a:avLst>
          </a:prstGeom>
          <a:solidFill>
            <a:srgbClr val="FFFFFF">
              <a:alpha val="100000"/>
            </a:srgbClr>
          </a:solidFill>
          <a:ln w="12700" cmpd="sng" cap="flat">
            <a:solidFill>
              <a:srgbClr val="E5E7EB">
                <a:alpha val="100000"/>
              </a:srgbClr>
            </a:solidFill>
            <a:prstDash val="solid"/>
            <a:round/>
          </a:ln>
          <a:effectLst>
            <a:outerShdw dir="5400000" dist="228600" blurRad="4826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12" id="1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84300" y="3822700"/>
            <a:ext cx="914400" cy="914400"/>
          </a:xfrm>
          <a:prstGeom prst="rect">
            <a:avLst/>
          </a:prstGeom>
        </p:spPr>
      </p:pic>
      <p:sp>
        <p:nvSpPr>
          <p:cNvPr name="AutoShape 13" id="13"/>
          <p:cNvSpPr/>
          <p:nvPr/>
        </p:nvSpPr>
        <p:spPr>
          <a:xfrm rot="0" flipH="false" flipV="false">
            <a:off x="571500" y="4737100"/>
            <a:ext cx="2540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Low Efficiency</a:t>
            </a:r>
            <a:endParaRPr lang="en-US" sz="1100"/>
          </a:p>
        </p:txBody>
      </p:sp>
      <p:sp>
        <p:nvSpPr>
          <p:cNvPr name="AutoShape 14" id="14"/>
          <p:cNvSpPr/>
          <p:nvPr/>
        </p:nvSpPr>
        <p:spPr>
          <a:xfrm rot="0" flipH="false" flipV="false">
            <a:off x="3263900" y="3670300"/>
            <a:ext cx="2794000" cy="1905000"/>
          </a:xfrm>
          <a:prstGeom prst="roundRect">
            <a:avLst>
              <a:gd name="adj" fmla="val 16000"/>
            </a:avLst>
          </a:prstGeom>
          <a:solidFill>
            <a:srgbClr val="FFFFFF">
              <a:alpha val="100000"/>
            </a:srgbClr>
          </a:solidFill>
          <a:ln w="12700" cmpd="sng" cap="flat">
            <a:solidFill>
              <a:srgbClr val="E5E7EB">
                <a:alpha val="100000"/>
              </a:srgbClr>
            </a:solidFill>
            <a:prstDash val="solid"/>
            <a:round/>
          </a:ln>
          <a:effectLst>
            <a:outerShdw dir="5400000" dist="228600" blurRad="4826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15" id="1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4203700" y="3822700"/>
            <a:ext cx="914400" cy="914400"/>
          </a:xfrm>
          <a:prstGeom prst="rect">
            <a:avLst/>
          </a:prstGeom>
        </p:spPr>
      </p:pic>
      <p:sp>
        <p:nvSpPr>
          <p:cNvPr name="AutoShape 16" id="16"/>
          <p:cNvSpPr/>
          <p:nvPr/>
        </p:nvSpPr>
        <p:spPr>
          <a:xfrm rot="0" flipH="false" flipV="false">
            <a:off x="3390900" y="4737100"/>
            <a:ext cx="2540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Data Silos</a:t>
            </a:r>
            <a:endParaRPr lang="en-US" sz="1100"/>
          </a:p>
        </p:txBody>
      </p:sp>
      <p:cxnSp>
        <p:nvCxnSpPr>
          <p:cNvPr name="Connector 17" id="17"/>
          <p:cNvCxnSpPr/>
          <p:nvPr/>
        </p:nvCxnSpPr>
        <p:spPr>
          <a:xfrm rot="5389257" flipH="false" flipV="false">
            <a:off x="4063990" y="3448070"/>
            <a:ext cx="4064020" cy="12700"/>
          </a:xfrm>
          <a:prstGeom prst="straightConnector1">
            <a:avLst/>
          </a:prstGeom>
          <a:solidFill>
            <a:srgbClr val="DEE0E3">
              <a:alpha val="100000"/>
            </a:srgbClr>
          </a:solidFill>
          <a:ln w="12700" cmpd="sng" cap="flat">
            <a:solidFill>
              <a:srgbClr val="DB0011">
                <a:alpha val="100000"/>
              </a:srgbClr>
            </a:solidFill>
            <a:prstDash val="dash"/>
            <a:round/>
            <a:headEnd type="none" w="med" len="med"/>
            <a:tailEnd type="none" w="med" len="med"/>
          </a:ln>
        </p:spPr>
      </p:cxnSp>
      <p:sp>
        <p:nvSpPr>
          <p:cNvPr name="AutoShape 18" id="18"/>
          <p:cNvSpPr/>
          <p:nvPr/>
        </p:nvSpPr>
        <p:spPr>
          <a:xfrm rot="0" flipH="false" flipV="false">
            <a:off x="6502400" y="1320800"/>
            <a:ext cx="5080000" cy="431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333333"/>
                </a:solidFill>
                <a:latin typeface="Poppins"/>
                <a:ea typeface="Poppins"/>
                <a:cs typeface="Poppins"/>
                <a:sym typeface="Poppins"/>
              </a:rPr>
              <a:t>Now: Our Implementation</a:t>
            </a:r>
            <a:endParaRPr lang="en-US" sz="1100"/>
          </a:p>
        </p:txBody>
      </p:sp>
      <p:sp>
        <p:nvSpPr>
          <p:cNvPr name="AutoShape 19" id="19"/>
          <p:cNvSpPr/>
          <p:nvPr/>
        </p:nvSpPr>
        <p:spPr>
          <a:xfrm rot="0" flipH="false" flipV="false">
            <a:off x="6311900" y="1714500"/>
            <a:ext cx="2794000" cy="1905000"/>
          </a:xfrm>
          <a:prstGeom prst="roundRect">
            <a:avLst>
              <a:gd name="adj" fmla="val 16000"/>
            </a:avLst>
          </a:prstGeom>
          <a:solidFill>
            <a:srgbClr val="FFFFFF">
              <a:alpha val="100000"/>
            </a:srgbClr>
          </a:solidFill>
          <a:ln w="12700" cmpd="sng" cap="flat">
            <a:solidFill>
              <a:srgbClr val="E5E7EB">
                <a:alpha val="100000"/>
              </a:srgbClr>
            </a:solidFill>
            <a:prstDash val="solid"/>
            <a:round/>
          </a:ln>
          <a:effectLst>
            <a:outerShdw dir="5400000" dist="228600" blurRad="4826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20" id="2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251700" y="1866900"/>
            <a:ext cx="914400" cy="914400"/>
          </a:xfrm>
          <a:prstGeom prst="rect">
            <a:avLst/>
          </a:prstGeom>
        </p:spPr>
      </p:pic>
      <p:sp>
        <p:nvSpPr>
          <p:cNvPr name="AutoShape 21" id="21"/>
          <p:cNvSpPr/>
          <p:nvPr/>
        </p:nvSpPr>
        <p:spPr>
          <a:xfrm rot="0" flipH="false" flipV="false">
            <a:off x="6438900" y="2908300"/>
            <a:ext cx="2540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Apex Unified</a:t>
            </a:r>
            <a:endParaRPr lang="en-US" sz="1100"/>
          </a:p>
        </p:txBody>
      </p:sp>
      <p:sp>
        <p:nvSpPr>
          <p:cNvPr name="AutoShape 22" id="22"/>
          <p:cNvSpPr/>
          <p:nvPr/>
        </p:nvSpPr>
        <p:spPr>
          <a:xfrm rot="0" flipH="false" flipV="false">
            <a:off x="9131300" y="1714500"/>
            <a:ext cx="2794000" cy="1905000"/>
          </a:xfrm>
          <a:prstGeom prst="roundRect">
            <a:avLst>
              <a:gd name="adj" fmla="val 16000"/>
            </a:avLst>
          </a:prstGeom>
          <a:solidFill>
            <a:srgbClr val="FFFFFF">
              <a:alpha val="100000"/>
            </a:srgbClr>
          </a:solidFill>
          <a:ln w="12700" cmpd="sng" cap="flat">
            <a:solidFill>
              <a:srgbClr val="E5E7EB">
                <a:alpha val="100000"/>
              </a:srgbClr>
            </a:solidFill>
            <a:prstDash val="solid"/>
            <a:round/>
          </a:ln>
          <a:effectLst>
            <a:outerShdw dir="5400000" dist="228600" blurRad="4826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23" id="2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071100" y="1866900"/>
            <a:ext cx="914400" cy="914400"/>
          </a:xfrm>
          <a:prstGeom prst="rect">
            <a:avLst/>
          </a:prstGeom>
        </p:spPr>
      </p:pic>
      <p:sp>
        <p:nvSpPr>
          <p:cNvPr name="AutoShape 24" id="24"/>
          <p:cNvSpPr/>
          <p:nvPr/>
        </p:nvSpPr>
        <p:spPr>
          <a:xfrm rot="0" flipH="false" flipV="false">
            <a:off x="9194800" y="2908300"/>
            <a:ext cx="2667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Granular &amp; Intelligent</a:t>
            </a:r>
            <a:endParaRPr lang="en-US" sz="1100"/>
          </a:p>
        </p:txBody>
      </p:sp>
      <p:sp>
        <p:nvSpPr>
          <p:cNvPr name="AutoShape 25" id="25"/>
          <p:cNvSpPr/>
          <p:nvPr/>
        </p:nvSpPr>
        <p:spPr>
          <a:xfrm rot="0" flipH="false" flipV="false">
            <a:off x="6311900" y="3670300"/>
            <a:ext cx="2794000" cy="1905000"/>
          </a:xfrm>
          <a:prstGeom prst="roundRect">
            <a:avLst>
              <a:gd name="adj" fmla="val 16000"/>
            </a:avLst>
          </a:prstGeom>
          <a:solidFill>
            <a:srgbClr val="FFFFFF">
              <a:alpha val="100000"/>
            </a:srgbClr>
          </a:solidFill>
          <a:ln w="12700" cmpd="sng" cap="flat">
            <a:solidFill>
              <a:srgbClr val="E5E7EB">
                <a:alpha val="100000"/>
              </a:srgbClr>
            </a:solidFill>
            <a:prstDash val="solid"/>
            <a:round/>
          </a:ln>
          <a:effectLst>
            <a:outerShdw dir="5400000" dist="228600" blurRad="4826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26" id="2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251700" y="3822700"/>
            <a:ext cx="914400" cy="914400"/>
          </a:xfrm>
          <a:prstGeom prst="rect">
            <a:avLst/>
          </a:prstGeom>
        </p:spPr>
      </p:pic>
      <p:sp>
        <p:nvSpPr>
          <p:cNvPr name="AutoShape 27" id="27"/>
          <p:cNvSpPr/>
          <p:nvPr/>
        </p:nvSpPr>
        <p:spPr>
          <a:xfrm rot="0" flipH="false" flipV="false">
            <a:off x="6375400" y="4737100"/>
            <a:ext cx="2794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Automated Compliance</a:t>
            </a:r>
            <a:endParaRPr lang="en-US" sz="1100"/>
          </a:p>
        </p:txBody>
      </p:sp>
      <p:sp>
        <p:nvSpPr>
          <p:cNvPr name="AutoShape 28" id="28"/>
          <p:cNvSpPr/>
          <p:nvPr/>
        </p:nvSpPr>
        <p:spPr>
          <a:xfrm rot="0" flipH="false" flipV="false">
            <a:off x="9131300" y="3670300"/>
            <a:ext cx="2794000" cy="1905000"/>
          </a:xfrm>
          <a:prstGeom prst="roundRect">
            <a:avLst>
              <a:gd name="adj" fmla="val 16000"/>
            </a:avLst>
          </a:prstGeom>
          <a:solidFill>
            <a:srgbClr val="FFFFFF">
              <a:alpha val="100000"/>
            </a:srgbClr>
          </a:solidFill>
          <a:ln w="12700" cmpd="sng" cap="flat">
            <a:solidFill>
              <a:srgbClr val="E5E7EB">
                <a:alpha val="100000"/>
              </a:srgbClr>
            </a:solidFill>
            <a:prstDash val="solid"/>
            <a:round/>
          </a:ln>
          <a:effectLst>
            <a:outerShdw dir="5400000" dist="228600" blurRad="4826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29" id="2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071100" y="3822700"/>
            <a:ext cx="914400" cy="914400"/>
          </a:xfrm>
          <a:prstGeom prst="rect">
            <a:avLst/>
          </a:prstGeom>
        </p:spPr>
      </p:pic>
      <p:sp>
        <p:nvSpPr>
          <p:cNvPr name="AutoShape 30" id="30"/>
          <p:cNvSpPr/>
          <p:nvPr/>
        </p:nvSpPr>
        <p:spPr>
          <a:xfrm rot="0" flipH="false" flipV="false">
            <a:off x="9194800" y="4737100"/>
            <a:ext cx="2794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Business Empowerment</a:t>
            </a:r>
            <a:endParaRPr lang="en-US" sz="1100"/>
          </a:p>
        </p:txBody>
      </p:sp>
      <p:cxnSp>
        <p:nvCxnSpPr>
          <p:cNvPr name="Connector 31" id="31"/>
          <p:cNvCxnSpPr/>
          <p:nvPr/>
        </p:nvCxnSpPr>
        <p:spPr>
          <a:xfrm rot="-3978" flipH="false" flipV="false">
            <a:off x="609604" y="5581650"/>
            <a:ext cx="10972800" cy="12700"/>
          </a:xfrm>
          <a:prstGeom prst="straightConnector1">
            <a:avLst/>
          </a:prstGeom>
          <a:solidFill>
            <a:srgbClr val="DEE0E3">
              <a:alpha val="100000"/>
            </a:srgbClr>
          </a:solidFill>
          <a:ln w="12700" cmpd="sng" cap="flat">
            <a:solidFill>
              <a:srgbClr val="E0E0E0">
                <a:alpha val="100000"/>
              </a:srgbClr>
            </a:solidFill>
            <a:prstDash val="solid"/>
            <a:round/>
            <a:headEnd type="none" w="med" len="med"/>
            <a:tailEnd type="none" w="med" len="med"/>
          </a:ln>
        </p:spPr>
      </p:cxnSp>
      <p:pic>
        <p:nvPicPr>
          <p:cNvPr name="Picture 32" id="3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09600" y="5842000"/>
            <a:ext cx="254000" cy="254000"/>
          </a:xfrm>
          <a:prstGeom prst="rect">
            <a:avLst/>
          </a:prstGeom>
        </p:spPr>
      </p:pic>
      <p:sp>
        <p:nvSpPr>
          <p:cNvPr name="AutoShape 33" id="33"/>
          <p:cNvSpPr/>
          <p:nvPr/>
        </p:nvSpPr>
        <p:spPr>
          <a:xfrm rot="0" flipH="false" flipV="false">
            <a:off x="1016000" y="5918200"/>
            <a:ext cx="1066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555555"/>
                </a:solidFill>
                <a:latin typeface="Noto Sans SC"/>
                <a:ea typeface="Noto Sans SC"/>
                <a:cs typeface="Noto Sans SC"/>
                <a:sym typeface="Noto Sans SC"/>
              </a:rPr>
              <a:t>Empowering business self-service to achieve agile innovation under central governance.</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279400"/>
            <a:ext cx="10668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000">
                <a:solidFill>
                  <a:srgbClr val="DB0011"/>
                </a:solidFill>
                <a:latin typeface="Poppins"/>
                <a:ea typeface="Poppins"/>
                <a:cs typeface="Poppins"/>
                <a:sym typeface="Poppins"/>
              </a:rPr>
              <a:t>Drivers for Change: A Business and Risk Perspective</a:t>
            </a:r>
            <a:endParaRPr lang="en-US" sz="1100"/>
          </a:p>
        </p:txBody>
      </p:sp>
      <p:cxnSp>
        <p:nvCxnSpPr>
          <p:cNvPr name="Connector 4" id="4"/>
          <p:cNvCxnSpPr/>
          <p:nvPr/>
        </p:nvCxnSpPr>
        <p:spPr>
          <a:xfrm rot="-79792" flipH="false" flipV="false">
            <a:off x="2539189" y="1822450"/>
            <a:ext cx="7113633" cy="12700"/>
          </a:xfrm>
          <a:prstGeom prst="straightConnector1">
            <a:avLst/>
          </a:prstGeom>
          <a:solidFill>
            <a:srgbClr val="DEE0E3">
              <a:alpha val="100000"/>
            </a:srgbClr>
          </a:solidFill>
          <a:ln w="25400" cmpd="sng" cap="flat">
            <a:solidFill>
              <a:srgbClr val="374151">
                <a:alpha val="100000"/>
              </a:srgbClr>
            </a:solidFill>
            <a:prstDash val="solid"/>
            <a:round/>
            <a:headEnd type="none" w="lg" len="lg"/>
            <a:tailEnd type="none" w="lg" len="lg"/>
          </a:ln>
        </p:spPr>
      </p:cxnSp>
      <p:sp>
        <p:nvSpPr>
          <p:cNvPr name="AutoShape 5" id="5"/>
          <p:cNvSpPr/>
          <p:nvPr/>
        </p:nvSpPr>
        <p:spPr>
          <a:xfrm rot="0" flipH="false" flipV="false">
            <a:off x="1016000" y="1651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333333"/>
                </a:solidFill>
                <a:latin typeface="Poppins"/>
                <a:ea typeface="Poppins"/>
                <a:cs typeface="Poppins"/>
                <a:sym typeface="Poppins"/>
              </a:rPr>
              <a:t>Sinking Costs/Risks</a:t>
            </a:r>
            <a:endParaRPr lang="en-US" sz="1100"/>
          </a:p>
        </p:txBody>
      </p:sp>
      <p:sp>
        <p:nvSpPr>
          <p:cNvPr name="AutoShape 6" id="6"/>
          <p:cNvSpPr/>
          <p:nvPr/>
        </p:nvSpPr>
        <p:spPr>
          <a:xfrm rot="0" flipH="false" flipV="false">
            <a:off x="1016000" y="2413000"/>
            <a:ext cx="3048000" cy="508000"/>
          </a:xfrm>
          <a:prstGeom prst="roundRect">
            <a:avLst>
              <a:gd name="adj" fmla="val 0"/>
            </a:avLst>
          </a:prstGeom>
          <a:solidFill>
            <a:srgbClr val="FFFFFF">
              <a:alpha val="100000"/>
            </a:srgbClr>
          </a:solidFill>
          <a:ln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19200" y="2540000"/>
            <a:ext cx="254000" cy="254000"/>
          </a:xfrm>
          <a:prstGeom prst="rect">
            <a:avLst/>
          </a:prstGeom>
        </p:spPr>
      </p:pic>
      <p:sp>
        <p:nvSpPr>
          <p:cNvPr name="AutoShape 8" id="8"/>
          <p:cNvSpPr/>
          <p:nvPr/>
        </p:nvSpPr>
        <p:spPr>
          <a:xfrm rot="0" flipH="false" flipV="false">
            <a:off x="1651000" y="25146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Poppins"/>
                <a:ea typeface="Poppins"/>
                <a:cs typeface="Poppins"/>
                <a:sym typeface="Poppins"/>
              </a:rPr>
              <a:t>Operational Costs</a:t>
            </a:r>
            <a:endParaRPr lang="en-US" sz="1100"/>
          </a:p>
        </p:txBody>
      </p:sp>
      <p:sp>
        <p:nvSpPr>
          <p:cNvPr name="AutoShape 9" id="9"/>
          <p:cNvSpPr/>
          <p:nvPr/>
        </p:nvSpPr>
        <p:spPr>
          <a:xfrm rot="0" flipH="false" flipV="false">
            <a:off x="-12700000" y="-12700000"/>
            <a:ext cx="12700" cy="12700"/>
          </a:xfrm>
          <a:prstGeom prst="rect">
            <a:avLst/>
          </a:prstGeom>
          <a:noFill/>
          <a:ln w="12700" cmpd="sng" cap="flat">
            <a:noFill/>
            <a:prstDash val="solid"/>
            <a:round/>
          </a:ln>
        </p:spPr>
        <p:txBody>
          <a:bodyPr anchor="t" rtlCol="false" anchorCtr="false" vert="horz" wrap="square" lIns="0" rIns="0" tIns="0" bIns="0"/>
          <a:lstStyle/>
          <a:p>
            <a:pPr algn="l">
              <a:defRPr/>
            </a:pPr>
            <a:endParaRPr/>
          </a:p>
        </p:txBody>
      </p:sp>
      <p:sp>
        <p:nvSpPr>
          <p:cNvPr name="AutoShape 10" id="10"/>
          <p:cNvSpPr/>
          <p:nvPr/>
        </p:nvSpPr>
        <p:spPr>
          <a:xfrm rot="0" flipH="false" flipV="false">
            <a:off x="1016000" y="3073400"/>
            <a:ext cx="3048000" cy="508000"/>
          </a:xfrm>
          <a:prstGeom prst="roundRect">
            <a:avLst>
              <a:gd name="adj" fmla="val 0"/>
            </a:avLst>
          </a:prstGeom>
          <a:solidFill>
            <a:srgbClr val="FFFFFF">
              <a:alpha val="100000"/>
            </a:srgbClr>
          </a:solidFill>
          <a:ln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219200" y="3200400"/>
            <a:ext cx="254000" cy="254000"/>
          </a:xfrm>
          <a:prstGeom prst="rect">
            <a:avLst/>
          </a:prstGeom>
        </p:spPr>
      </p:pic>
      <p:sp>
        <p:nvSpPr>
          <p:cNvPr name="AutoShape 12" id="12"/>
          <p:cNvSpPr/>
          <p:nvPr/>
        </p:nvSpPr>
        <p:spPr>
          <a:xfrm rot="0" flipH="false" flipV="false">
            <a:off x="1651000" y="31750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Poppins"/>
                <a:ea typeface="Poppins"/>
                <a:cs typeface="Poppins"/>
                <a:sym typeface="Poppins"/>
              </a:rPr>
              <a:t>Compliance Risks</a:t>
            </a:r>
            <a:endParaRPr lang="en-US" sz="1100"/>
          </a:p>
        </p:txBody>
      </p:sp>
      <p:sp>
        <p:nvSpPr>
          <p:cNvPr name="AutoShape 13" id="13"/>
          <p:cNvSpPr/>
          <p:nvPr/>
        </p:nvSpPr>
        <p:spPr>
          <a:xfrm rot="0" flipH="false" flipV="false">
            <a:off x="-12700000" y="-12700000"/>
            <a:ext cx="12700" cy="12700"/>
          </a:xfrm>
          <a:prstGeom prst="rect">
            <a:avLst/>
          </a:prstGeom>
          <a:noFill/>
          <a:ln w="12700" cmpd="sng" cap="flat">
            <a:noFill/>
            <a:prstDash val="solid"/>
            <a:round/>
          </a:ln>
        </p:spPr>
        <p:txBody>
          <a:bodyPr anchor="t" rtlCol="false" anchorCtr="false" vert="horz" wrap="square" lIns="0" rIns="0" tIns="0" bIns="0"/>
          <a:lstStyle/>
          <a:p>
            <a:pPr algn="l">
              <a:defRPr/>
            </a:pPr>
            <a:endParaRPr/>
          </a:p>
        </p:txBody>
      </p:sp>
      <p:sp>
        <p:nvSpPr>
          <p:cNvPr name="AutoShape 14" id="14"/>
          <p:cNvSpPr/>
          <p:nvPr/>
        </p:nvSpPr>
        <p:spPr>
          <a:xfrm rot="0" flipH="false" flipV="false">
            <a:off x="1016000" y="3733800"/>
            <a:ext cx="3048000" cy="508000"/>
          </a:xfrm>
          <a:prstGeom prst="roundRect">
            <a:avLst>
              <a:gd name="adj" fmla="val 0"/>
            </a:avLst>
          </a:prstGeom>
          <a:solidFill>
            <a:srgbClr val="FFFFFF">
              <a:alpha val="100000"/>
            </a:srgbClr>
          </a:solidFill>
          <a:ln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19200" y="3860800"/>
            <a:ext cx="254000" cy="254000"/>
          </a:xfrm>
          <a:prstGeom prst="rect">
            <a:avLst/>
          </a:prstGeom>
        </p:spPr>
      </p:pic>
      <p:sp>
        <p:nvSpPr>
          <p:cNvPr name="AutoShape 16" id="16"/>
          <p:cNvSpPr/>
          <p:nvPr/>
        </p:nvSpPr>
        <p:spPr>
          <a:xfrm rot="0" flipH="false" flipV="false">
            <a:off x="1651000" y="3835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Poppins"/>
                <a:ea typeface="Poppins"/>
                <a:cs typeface="Poppins"/>
                <a:sym typeface="Poppins"/>
              </a:rPr>
              <a:t>Operational Risks</a:t>
            </a:r>
            <a:endParaRPr lang="en-US" sz="1100"/>
          </a:p>
        </p:txBody>
      </p:sp>
      <p:sp>
        <p:nvSpPr>
          <p:cNvPr name="AutoShape 17" id="17"/>
          <p:cNvSpPr/>
          <p:nvPr/>
        </p:nvSpPr>
        <p:spPr>
          <a:xfrm rot="0" flipH="false" flipV="false">
            <a:off x="-12700000" y="-12700000"/>
            <a:ext cx="12700" cy="12700"/>
          </a:xfrm>
          <a:prstGeom prst="rect">
            <a:avLst/>
          </a:prstGeom>
          <a:noFill/>
          <a:ln w="12700" cmpd="sng" cap="flat">
            <a:noFill/>
            <a:prstDash val="solid"/>
            <a:round/>
          </a:ln>
        </p:spPr>
        <p:txBody>
          <a:bodyPr anchor="t" rtlCol="false" anchorCtr="false" vert="horz" wrap="square" lIns="0" rIns="0" tIns="0" bIns="0"/>
          <a:lstStyle/>
          <a:p>
            <a:pPr algn="l">
              <a:defRPr/>
            </a:pPr>
            <a:endParaRPr/>
          </a:p>
        </p:txBody>
      </p:sp>
      <p:sp>
        <p:nvSpPr>
          <p:cNvPr name="AutoShape 18" id="18"/>
          <p:cNvSpPr/>
          <p:nvPr/>
        </p:nvSpPr>
        <p:spPr>
          <a:xfrm rot="0" flipH="false" flipV="false">
            <a:off x="1016000" y="4394200"/>
            <a:ext cx="3048000" cy="508000"/>
          </a:xfrm>
          <a:prstGeom prst="roundRect">
            <a:avLst>
              <a:gd name="adj" fmla="val 0"/>
            </a:avLst>
          </a:prstGeom>
          <a:solidFill>
            <a:srgbClr val="FFFFFF">
              <a:alpha val="100000"/>
            </a:srgbClr>
          </a:solidFill>
          <a:ln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219200" y="4521200"/>
            <a:ext cx="254000" cy="254000"/>
          </a:xfrm>
          <a:prstGeom prst="rect">
            <a:avLst/>
          </a:prstGeom>
        </p:spPr>
      </p:pic>
      <p:sp>
        <p:nvSpPr>
          <p:cNvPr name="AutoShape 20" id="20"/>
          <p:cNvSpPr/>
          <p:nvPr/>
        </p:nvSpPr>
        <p:spPr>
          <a:xfrm rot="0" flipH="false" flipV="false">
            <a:off x="1651000" y="44958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Poppins"/>
                <a:ea typeface="Poppins"/>
                <a:cs typeface="Poppins"/>
                <a:sym typeface="Poppins"/>
              </a:rPr>
              <a:t>Business Rigidity</a:t>
            </a:r>
            <a:endParaRPr lang="en-US" sz="1100"/>
          </a:p>
        </p:txBody>
      </p:sp>
      <p:sp>
        <p:nvSpPr>
          <p:cNvPr name="AutoShape 21" id="21"/>
          <p:cNvSpPr/>
          <p:nvPr/>
        </p:nvSpPr>
        <p:spPr>
          <a:xfrm rot="0" flipH="false" flipV="false">
            <a:off x="-12700000" y="-12700000"/>
            <a:ext cx="12700" cy="12700"/>
          </a:xfrm>
          <a:prstGeom prst="rect">
            <a:avLst/>
          </a:prstGeom>
          <a:noFill/>
          <a:ln w="12700" cmpd="sng" cap="flat">
            <a:noFill/>
            <a:prstDash val="solid"/>
            <a:round/>
          </a:ln>
        </p:spPr>
        <p:txBody>
          <a:bodyPr anchor="t" rtlCol="false" anchorCtr="false" vert="horz" wrap="square" lIns="0" rIns="0" tIns="0" bIns="0"/>
          <a:lstStyle/>
          <a:p>
            <a:pPr algn="l">
              <a:defRPr/>
            </a:pPr>
            <a:endParaRPr/>
          </a:p>
        </p:txBody>
      </p:sp>
      <p:cxnSp>
        <p:nvCxnSpPr>
          <p:cNvPr name="Connector 22" id="22"/>
          <p:cNvCxnSpPr/>
          <p:nvPr/>
        </p:nvCxnSpPr>
        <p:spPr>
          <a:xfrm rot="5388910" flipH="false" flipV="false">
            <a:off x="4127500" y="3867160"/>
            <a:ext cx="3937000" cy="12700"/>
          </a:xfrm>
          <a:prstGeom prst="straightConnector1">
            <a:avLst/>
          </a:prstGeom>
          <a:solidFill>
            <a:srgbClr val="DEE0E3">
              <a:alpha val="100000"/>
            </a:srgbClr>
          </a:solidFill>
          <a:ln w="12700" cmpd="sng" cap="flat">
            <a:solidFill>
              <a:srgbClr val="9CA3AF">
                <a:alpha val="100000"/>
              </a:srgbClr>
            </a:solidFill>
            <a:prstDash val="dash"/>
            <a:round/>
            <a:headEnd type="none" w="med" len="med"/>
            <a:tailEnd type="none" w="med" len="med"/>
          </a:ln>
        </p:spPr>
      </p:cxnSp>
      <p:sp>
        <p:nvSpPr>
          <p:cNvPr name="AutoShape 23" id="23"/>
          <p:cNvSpPr/>
          <p:nvPr/>
        </p:nvSpPr>
        <p:spPr>
          <a:xfrm rot="0" flipH="false" flipV="false">
            <a:off x="6858000" y="16510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333333"/>
                </a:solidFill>
                <a:latin typeface="Poppins"/>
                <a:ea typeface="Poppins"/>
                <a:cs typeface="Poppins"/>
                <a:sym typeface="Poppins"/>
              </a:rPr>
              <a:t>The Value We Pursue</a:t>
            </a:r>
            <a:endParaRPr lang="en-US" sz="1100"/>
          </a:p>
        </p:txBody>
      </p:sp>
      <p:sp>
        <p:nvSpPr>
          <p:cNvPr name="AutoShape 24" id="24"/>
          <p:cNvSpPr/>
          <p:nvPr/>
        </p:nvSpPr>
        <p:spPr>
          <a:xfrm rot="0" flipH="false" flipV="false">
            <a:off x="6858000" y="2413000"/>
            <a:ext cx="3302000" cy="508000"/>
          </a:xfrm>
          <a:prstGeom prst="roundRect">
            <a:avLst>
              <a:gd name="adj" fmla="val 0"/>
            </a:avLst>
          </a:prstGeom>
          <a:solidFill>
            <a:srgbClr val="FFFFFF">
              <a:alpha val="100000"/>
            </a:srgbClr>
          </a:solidFill>
          <a:ln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7061200" y="2540000"/>
            <a:ext cx="254000" cy="254000"/>
          </a:xfrm>
          <a:prstGeom prst="rect">
            <a:avLst/>
          </a:prstGeom>
        </p:spPr>
      </p:pic>
      <p:sp>
        <p:nvSpPr>
          <p:cNvPr name="AutoShape 26" id="26"/>
          <p:cNvSpPr/>
          <p:nvPr/>
        </p:nvSpPr>
        <p:spPr>
          <a:xfrm rot="0" flipH="false" flipV="false">
            <a:off x="7518400" y="25146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Poppins"/>
                <a:ea typeface="Poppins"/>
                <a:cs typeface="Poppins"/>
                <a:sym typeface="Poppins"/>
              </a:rPr>
              <a:t>Efficiency &amp; Agility</a:t>
            </a:r>
            <a:endParaRPr lang="en-US" sz="1100"/>
          </a:p>
        </p:txBody>
      </p:sp>
      <p:sp>
        <p:nvSpPr>
          <p:cNvPr name="AutoShape 27" id="27"/>
          <p:cNvSpPr/>
          <p:nvPr/>
        </p:nvSpPr>
        <p:spPr>
          <a:xfrm rot="0" flipH="false" flipV="false">
            <a:off x="-12700000" y="-12700000"/>
            <a:ext cx="12700" cy="12700"/>
          </a:xfrm>
          <a:prstGeom prst="rect">
            <a:avLst/>
          </a:prstGeom>
          <a:noFill/>
          <a:ln w="12700" cmpd="sng" cap="flat">
            <a:noFill/>
            <a:prstDash val="solid"/>
            <a:round/>
          </a:ln>
        </p:spPr>
        <p:txBody>
          <a:bodyPr anchor="t" rtlCol="false" anchorCtr="false" vert="horz" wrap="square" lIns="0" rIns="0" tIns="0" bIns="0"/>
          <a:lstStyle/>
          <a:p>
            <a:pPr algn="l">
              <a:defRPr/>
            </a:pPr>
            <a:endParaRPr/>
          </a:p>
        </p:txBody>
      </p:sp>
      <p:sp>
        <p:nvSpPr>
          <p:cNvPr name="AutoShape 28" id="28"/>
          <p:cNvSpPr/>
          <p:nvPr/>
        </p:nvSpPr>
        <p:spPr>
          <a:xfrm rot="0" flipH="false" flipV="false">
            <a:off x="6858000" y="3073400"/>
            <a:ext cx="3302000" cy="508000"/>
          </a:xfrm>
          <a:prstGeom prst="roundRect">
            <a:avLst>
              <a:gd name="adj" fmla="val 0"/>
            </a:avLst>
          </a:prstGeom>
          <a:solidFill>
            <a:srgbClr val="FFFFFF">
              <a:alpha val="100000"/>
            </a:srgbClr>
          </a:solidFill>
          <a:ln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pic>
        <p:nvPicPr>
          <p:cNvPr name="Picture 29" id="2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7061200" y="3200400"/>
            <a:ext cx="254000" cy="254000"/>
          </a:xfrm>
          <a:prstGeom prst="rect">
            <a:avLst/>
          </a:prstGeom>
        </p:spPr>
      </p:pic>
      <p:sp>
        <p:nvSpPr>
          <p:cNvPr name="AutoShape 30" id="30"/>
          <p:cNvSpPr/>
          <p:nvPr/>
        </p:nvSpPr>
        <p:spPr>
          <a:xfrm rot="0" flipH="false" flipV="false">
            <a:off x="7518400" y="3175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Poppins"/>
                <a:ea typeface="Poppins"/>
                <a:cs typeface="Poppins"/>
                <a:sym typeface="Poppins"/>
              </a:rPr>
              <a:t>Security &amp; Compliance</a:t>
            </a:r>
            <a:endParaRPr lang="en-US" sz="1100"/>
          </a:p>
        </p:txBody>
      </p:sp>
      <p:sp>
        <p:nvSpPr>
          <p:cNvPr name="AutoShape 31" id="31"/>
          <p:cNvSpPr/>
          <p:nvPr/>
        </p:nvSpPr>
        <p:spPr>
          <a:xfrm rot="0" flipH="false" flipV="false">
            <a:off x="-12700000" y="-12700000"/>
            <a:ext cx="12700" cy="12700"/>
          </a:xfrm>
          <a:prstGeom prst="rect">
            <a:avLst/>
          </a:prstGeom>
          <a:noFill/>
          <a:ln w="12700" cmpd="sng" cap="flat">
            <a:noFill/>
            <a:prstDash val="solid"/>
            <a:round/>
          </a:ln>
        </p:spPr>
        <p:txBody>
          <a:bodyPr anchor="t" rtlCol="false" anchorCtr="false" vert="horz" wrap="square" lIns="0" rIns="0" tIns="0" bIns="0"/>
          <a:lstStyle/>
          <a:p>
            <a:pPr algn="l">
              <a:defRPr/>
            </a:pPr>
            <a:endParaRPr/>
          </a:p>
        </p:txBody>
      </p:sp>
      <p:sp>
        <p:nvSpPr>
          <p:cNvPr name="AutoShape 32" id="32"/>
          <p:cNvSpPr/>
          <p:nvPr/>
        </p:nvSpPr>
        <p:spPr>
          <a:xfrm rot="0" flipH="false" flipV="false">
            <a:off x="6858000" y="3733800"/>
            <a:ext cx="3302000" cy="508000"/>
          </a:xfrm>
          <a:prstGeom prst="roundRect">
            <a:avLst>
              <a:gd name="adj" fmla="val 0"/>
            </a:avLst>
          </a:prstGeom>
          <a:solidFill>
            <a:srgbClr val="FFFFFF">
              <a:alpha val="100000"/>
            </a:srgbClr>
          </a:solidFill>
          <a:ln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pic>
        <p:nvPicPr>
          <p:cNvPr name="Picture 33" id="33"/>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7061200" y="3860800"/>
            <a:ext cx="254000" cy="254000"/>
          </a:xfrm>
          <a:prstGeom prst="rect">
            <a:avLst/>
          </a:prstGeom>
        </p:spPr>
      </p:pic>
      <p:sp>
        <p:nvSpPr>
          <p:cNvPr name="AutoShape 34" id="34"/>
          <p:cNvSpPr/>
          <p:nvPr/>
        </p:nvSpPr>
        <p:spPr>
          <a:xfrm rot="0" flipH="false" flipV="false">
            <a:off x="7518400" y="38354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Poppins"/>
                <a:ea typeface="Poppins"/>
                <a:cs typeface="Poppins"/>
                <a:sym typeface="Poppins"/>
              </a:rPr>
              <a:t>Scalability</a:t>
            </a:r>
            <a:endParaRPr lang="en-US" sz="1100"/>
          </a:p>
        </p:txBody>
      </p:sp>
      <p:sp>
        <p:nvSpPr>
          <p:cNvPr name="AutoShape 35" id="35"/>
          <p:cNvSpPr/>
          <p:nvPr/>
        </p:nvSpPr>
        <p:spPr>
          <a:xfrm rot="0" flipH="false" flipV="false">
            <a:off x="-12700000" y="-12700000"/>
            <a:ext cx="12700" cy="12700"/>
          </a:xfrm>
          <a:prstGeom prst="rect">
            <a:avLst/>
          </a:prstGeom>
          <a:noFill/>
          <a:ln w="12700" cmpd="sng" cap="flat">
            <a:noFill/>
            <a:prstDash val="solid"/>
            <a:round/>
          </a:ln>
        </p:spPr>
        <p:txBody>
          <a:bodyPr anchor="t" rtlCol="false" anchorCtr="false" vert="horz" wrap="square" lIns="0" rIns="0" tIns="0" bIns="0"/>
          <a:lstStyle/>
          <a:p>
            <a:pPr algn="l">
              <a:defRPr/>
            </a:pPr>
            <a:endParaRPr/>
          </a:p>
        </p:txBody>
      </p:sp>
      <p:sp>
        <p:nvSpPr>
          <p:cNvPr name="AutoShape 36" id="36"/>
          <p:cNvSpPr/>
          <p:nvPr/>
        </p:nvSpPr>
        <p:spPr>
          <a:xfrm rot="0" flipH="false" flipV="false">
            <a:off x="6858000" y="4394200"/>
            <a:ext cx="3302000" cy="508000"/>
          </a:xfrm>
          <a:prstGeom prst="roundRect">
            <a:avLst>
              <a:gd name="adj" fmla="val 0"/>
            </a:avLst>
          </a:prstGeom>
          <a:solidFill>
            <a:srgbClr val="FFFFFF">
              <a:alpha val="100000"/>
            </a:srgbClr>
          </a:solidFill>
          <a:ln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pic>
        <p:nvPicPr>
          <p:cNvPr name="Picture 37" id="37"/>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7061200" y="4521200"/>
            <a:ext cx="254000" cy="254000"/>
          </a:xfrm>
          <a:prstGeom prst="rect">
            <a:avLst/>
          </a:prstGeom>
        </p:spPr>
      </p:pic>
      <p:sp>
        <p:nvSpPr>
          <p:cNvPr name="AutoShape 38" id="38"/>
          <p:cNvSpPr/>
          <p:nvPr/>
        </p:nvSpPr>
        <p:spPr>
          <a:xfrm rot="0" flipH="false" flipV="false">
            <a:off x="7518400" y="44958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33333"/>
                </a:solidFill>
                <a:latin typeface="Poppins"/>
                <a:ea typeface="Poppins"/>
                <a:cs typeface="Poppins"/>
                <a:sym typeface="Poppins"/>
              </a:rPr>
              <a:t>Unified Governance</a:t>
            </a:r>
            <a:endParaRPr lang="en-US" sz="1100"/>
          </a:p>
        </p:txBody>
      </p:sp>
      <p:sp>
        <p:nvSpPr>
          <p:cNvPr name="AutoShape 39" id="39"/>
          <p:cNvSpPr/>
          <p:nvPr/>
        </p:nvSpPr>
        <p:spPr>
          <a:xfrm rot="0" flipH="false" flipV="false">
            <a:off x="-12700000" y="-12700000"/>
            <a:ext cx="12700" cy="12700"/>
          </a:xfrm>
          <a:prstGeom prst="rect">
            <a:avLst/>
          </a:prstGeom>
          <a:noFill/>
          <a:ln w="12700" cmpd="sng" cap="flat">
            <a:noFill/>
            <a:prstDash val="solid"/>
            <a:round/>
          </a:ln>
        </p:spPr>
        <p:txBody>
          <a:bodyPr anchor="t" rtlCol="false" anchorCtr="false" vert="horz" wrap="square" lIns="0" rIns="0" tIns="0" bIns="0"/>
          <a:lstStyle/>
          <a:p>
            <a:pPr algn="l">
              <a:defRPr/>
            </a:pPr>
            <a:endParaRPr/>
          </a:p>
        </p:txBody>
      </p:sp>
      <p:cxnSp>
        <p:nvCxnSpPr>
          <p:cNvPr name="Connector 40" id="40"/>
          <p:cNvCxnSpPr/>
          <p:nvPr/>
        </p:nvCxnSpPr>
        <p:spPr>
          <a:xfrm rot="-171744" flipH="false" flipV="false">
            <a:off x="5969159" y="1822450"/>
            <a:ext cx="254000" cy="12700"/>
          </a:xfrm>
          <a:prstGeom prst="straightConnector1">
            <a:avLst/>
          </a:prstGeom>
          <a:solidFill>
            <a:srgbClr val="DEE0E3">
              <a:alpha val="100000"/>
            </a:srgbClr>
          </a:solidFill>
          <a:ln w="25400" cmpd="sng" cap="flat">
            <a:solidFill>
              <a:srgbClr val="374151">
                <a:alpha val="100000"/>
              </a:srgbClr>
            </a:solidFill>
            <a:prstDash val="solid"/>
            <a:round/>
            <a:headEnd type="none" w="lg" len="lg"/>
            <a:tailEnd type="none" w="lg" len="lg"/>
          </a:ln>
        </p:spPr>
      </p:cxnSp>
    </p:spTree>
  </p:cSld>
  <p:clrMapOvr>
    <a:masterClrMapping/>
  </p:clrMapOvr>
</p:sld>
</file>

<file path=ppt/slides/slide4.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09600" y="304800"/>
            <a:ext cx="10972800" cy="609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111827"/>
                </a:solidFill>
                <a:latin typeface="Noto Sans SC"/>
                <a:ea typeface="Noto Sans SC"/>
                <a:cs typeface="Noto Sans SC"/>
                <a:sym typeface="Noto Sans SC"/>
              </a:rPr>
              <a:t>Core Breakthrough: Building a Unified Global Resource Tree</a:t>
            </a:r>
            <a:endParaRPr lang="en-US" sz="1100"/>
          </a:p>
        </p:txBody>
      </p:sp>
      <p:sp>
        <p:nvSpPr>
          <p:cNvPr name="AutoShape 3" id="3"/>
          <p:cNvSpPr/>
          <p:nvPr/>
        </p:nvSpPr>
        <p:spPr>
          <a:xfrm rot="0" flipH="false" flipV="false">
            <a:off x="1016000" y="1397000"/>
            <a:ext cx="4572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6B7280"/>
                </a:solidFill>
                <a:latin typeface="Noto Sans SC"/>
                <a:ea typeface="Noto Sans SC"/>
                <a:cs typeface="Noto Sans SC"/>
                <a:sym typeface="Noto Sans SC"/>
              </a:rPr>
              <a:t>Past: Data Silos</a:t>
            </a:r>
            <a:endParaRPr lang="en-US" sz="1100"/>
          </a:p>
        </p:txBody>
      </p:sp>
      <p:sp>
        <p:nvSpPr>
          <p:cNvPr name="AutoShape 4" id="4"/>
          <p:cNvSpPr/>
          <p:nvPr/>
        </p:nvSpPr>
        <p:spPr>
          <a:xfrm rot="0" flipH="false" flipV="false">
            <a:off x="1016000" y="1828800"/>
            <a:ext cx="4572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CA3AF"/>
                </a:solidFill>
                <a:latin typeface="Noto Sans SC"/>
                <a:ea typeface="Noto Sans SC"/>
                <a:cs typeface="Noto Sans SC"/>
                <a:sym typeface="Noto Sans SC"/>
              </a:rPr>
              <a:t>Each Use Case had its own hierarchy tree</a:t>
            </a:r>
            <a:endParaRPr lang="en-US" sz="1100"/>
          </a:p>
        </p:txBody>
      </p:sp>
      <p:cxnSp>
        <p:nvCxnSpPr>
          <p:cNvPr name="Connector 5" id="5"/>
          <p:cNvCxnSpPr/>
          <p:nvPr/>
        </p:nvCxnSpPr>
        <p:spPr>
          <a:xfrm rot="-5457290" flipH="false" flipV="false">
            <a:off x="1143000" y="2787597"/>
            <a:ext cx="762000" cy="12700"/>
          </a:xfrm>
          <a:prstGeom prst="straightConnector1">
            <a:avLst/>
          </a:prstGeom>
          <a:solidFill>
            <a:srgbClr val="DEE0E3">
              <a:alpha val="100000"/>
            </a:srgbClr>
          </a:solidFill>
          <a:ln w="38100" cmpd="sng" cap="flat">
            <a:solidFill>
              <a:srgbClr val="9CA3AF">
                <a:alpha val="100000"/>
              </a:srgbClr>
            </a:solidFill>
            <a:prstDash val="solid"/>
            <a:round/>
            <a:headEnd type="none" w="lg" len="lg"/>
            <a:tailEnd type="none" w="lg" len="lg"/>
          </a:ln>
        </p:spPr>
      </p:cxnSp>
      <p:cxnSp>
        <p:nvCxnSpPr>
          <p:cNvPr name="Connector 6" id="6"/>
          <p:cNvCxnSpPr/>
          <p:nvPr/>
        </p:nvCxnSpPr>
        <p:spPr>
          <a:xfrm rot="-8181013" flipH="false" flipV="false">
            <a:off x="1064039" y="2216097"/>
            <a:ext cx="538815" cy="12700"/>
          </a:xfrm>
          <a:prstGeom prst="straightConnector1">
            <a:avLst/>
          </a:prstGeom>
          <a:solidFill>
            <a:srgbClr val="DEE0E3">
              <a:alpha val="100000"/>
            </a:srgbClr>
          </a:solidFill>
          <a:ln w="38100" cmpd="sng" cap="flat">
            <a:solidFill>
              <a:srgbClr val="9CA3AF">
                <a:alpha val="100000"/>
              </a:srgbClr>
            </a:solidFill>
            <a:prstDash val="solid"/>
            <a:round/>
            <a:headEnd type="none" w="lg" len="lg"/>
            <a:tailEnd type="none" w="lg" len="lg"/>
          </a:ln>
        </p:spPr>
      </p:cxnSp>
      <p:cxnSp>
        <p:nvCxnSpPr>
          <p:cNvPr name="Connector 7" id="7"/>
          <p:cNvCxnSpPr/>
          <p:nvPr/>
        </p:nvCxnSpPr>
        <p:spPr>
          <a:xfrm rot="-2781013" flipH="false" flipV="false">
            <a:off x="1445145" y="2216097"/>
            <a:ext cx="538815" cy="12700"/>
          </a:xfrm>
          <a:prstGeom prst="straightConnector1">
            <a:avLst/>
          </a:prstGeom>
          <a:solidFill>
            <a:srgbClr val="DEE0E3">
              <a:alpha val="100000"/>
            </a:srgbClr>
          </a:solidFill>
          <a:ln w="38100" cmpd="sng" cap="flat">
            <a:solidFill>
              <a:srgbClr val="9CA3AF">
                <a:alpha val="100000"/>
              </a:srgbClr>
            </a:solidFill>
            <a:prstDash val="solid"/>
            <a:round/>
            <a:headEnd type="none" w="lg" len="lg"/>
            <a:tailEnd type="none" w="lg" len="lg"/>
          </a:ln>
        </p:spPr>
      </p:cxnSp>
      <p:cxnSp>
        <p:nvCxnSpPr>
          <p:cNvPr name="Connector 8" id="8"/>
          <p:cNvCxnSpPr/>
          <p:nvPr/>
        </p:nvCxnSpPr>
        <p:spPr>
          <a:xfrm rot="8018986" flipH="false" flipV="false">
            <a:off x="1064039" y="3359203"/>
            <a:ext cx="538815" cy="12700"/>
          </a:xfrm>
          <a:prstGeom prst="straightConnector1">
            <a:avLst/>
          </a:prstGeom>
          <a:solidFill>
            <a:srgbClr val="DEE0E3">
              <a:alpha val="100000"/>
            </a:srgbClr>
          </a:solidFill>
          <a:ln w="38100" cmpd="sng" cap="flat">
            <a:solidFill>
              <a:srgbClr val="9CA3AF">
                <a:alpha val="100000"/>
              </a:srgbClr>
            </a:solidFill>
            <a:prstDash val="solid"/>
            <a:round/>
            <a:headEnd type="none" w="lg" len="lg"/>
            <a:tailEnd type="none" w="lg" len="lg"/>
          </a:ln>
        </p:spPr>
      </p:cxnSp>
      <p:cxnSp>
        <p:nvCxnSpPr>
          <p:cNvPr name="Connector 9" id="9"/>
          <p:cNvCxnSpPr/>
          <p:nvPr/>
        </p:nvCxnSpPr>
        <p:spPr>
          <a:xfrm rot="2618986" flipH="false" flipV="false">
            <a:off x="1445145" y="3359203"/>
            <a:ext cx="538815" cy="12700"/>
          </a:xfrm>
          <a:prstGeom prst="straightConnector1">
            <a:avLst/>
          </a:prstGeom>
          <a:solidFill>
            <a:srgbClr val="DEE0E3">
              <a:alpha val="100000"/>
            </a:srgbClr>
          </a:solidFill>
          <a:ln w="38100" cmpd="sng" cap="flat">
            <a:solidFill>
              <a:srgbClr val="9CA3AF">
                <a:alpha val="100000"/>
              </a:srgbClr>
            </a:solidFill>
            <a:prstDash val="solid"/>
            <a:round/>
            <a:headEnd type="none" w="lg" len="lg"/>
            <a:tailEnd type="none" w="lg" len="lg"/>
          </a:ln>
        </p:spPr>
      </p:cxnSp>
      <p:sp>
        <p:nvSpPr>
          <p:cNvPr name="AutoShape 10" id="10"/>
          <p:cNvSpPr/>
          <p:nvPr/>
        </p:nvSpPr>
        <p:spPr>
          <a:xfrm rot="0" flipH="false" flipV="false">
            <a:off x="1409700" y="3060700"/>
            <a:ext cx="228600" cy="228600"/>
          </a:xfrm>
          <a:prstGeom prst="ellipse">
            <a:avLst/>
          </a:prstGeom>
          <a:solidFill>
            <a:srgbClr val="9CA3AF">
              <a:alpha val="100000"/>
            </a:srgbClr>
          </a:solidFill>
          <a:ln w="254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11" id="11"/>
          <p:cNvSpPr/>
          <p:nvPr/>
        </p:nvSpPr>
        <p:spPr>
          <a:xfrm rot="0" flipH="false" flipV="false">
            <a:off x="1054100" y="1943100"/>
            <a:ext cx="177800" cy="177800"/>
          </a:xfrm>
          <a:prstGeom prst="ellipse">
            <a:avLst/>
          </a:prstGeom>
          <a:solidFill>
            <a:srgbClr val="9CA3AF">
              <a:alpha val="100000"/>
            </a:srgbClr>
          </a:solidFill>
          <a:ln w="254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1816100" y="1943100"/>
            <a:ext cx="177800" cy="177800"/>
          </a:xfrm>
          <a:prstGeom prst="ellipse">
            <a:avLst/>
          </a:prstGeom>
          <a:solidFill>
            <a:srgbClr val="9CA3AF">
              <a:alpha val="100000"/>
            </a:srgbClr>
          </a:solidFill>
          <a:ln w="254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1054100" y="3467100"/>
            <a:ext cx="177800" cy="177800"/>
          </a:xfrm>
          <a:prstGeom prst="ellipse">
            <a:avLst/>
          </a:prstGeom>
          <a:solidFill>
            <a:srgbClr val="9CA3AF">
              <a:alpha val="100000"/>
            </a:srgbClr>
          </a:solidFill>
          <a:ln w="254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14" id="14"/>
          <p:cNvSpPr/>
          <p:nvPr/>
        </p:nvSpPr>
        <p:spPr>
          <a:xfrm rot="0" flipH="false" flipV="false">
            <a:off x="1816100" y="3467100"/>
            <a:ext cx="177800" cy="177800"/>
          </a:xfrm>
          <a:prstGeom prst="ellipse">
            <a:avLst/>
          </a:prstGeom>
          <a:solidFill>
            <a:srgbClr val="9CA3AF">
              <a:alpha val="100000"/>
            </a:srgbClr>
          </a:solidFill>
          <a:ln w="254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cxnSp>
        <p:nvCxnSpPr>
          <p:cNvPr name="Connector 15" id="15"/>
          <p:cNvCxnSpPr/>
          <p:nvPr/>
        </p:nvCxnSpPr>
        <p:spPr>
          <a:xfrm rot="-14323" flipH="false" flipV="false">
            <a:off x="3302013" y="3168650"/>
            <a:ext cx="3048000" cy="12700"/>
          </a:xfrm>
          <a:prstGeom prst="straightConnector1">
            <a:avLst/>
          </a:prstGeom>
          <a:solidFill>
            <a:srgbClr val="DEE0E3">
              <a:alpha val="100000"/>
            </a:srgbClr>
          </a:solidFill>
          <a:ln w="127000" cmpd="sng" cap="flat">
            <a:solidFill>
              <a:srgbClr val="2563EB">
                <a:alpha val="100000"/>
              </a:srgbClr>
            </a:solidFill>
            <a:prstDash val="solid"/>
            <a:round/>
            <a:headEnd type="none" w="lg" len="lg"/>
            <a:tailEnd type="triangle" w="lg" len="lg"/>
          </a:ln>
        </p:spPr>
      </p:cxnSp>
      <p:sp>
        <p:nvSpPr>
          <p:cNvPr name="AutoShape 16" id="16"/>
          <p:cNvSpPr/>
          <p:nvPr/>
        </p:nvSpPr>
        <p:spPr>
          <a:xfrm rot="0" flipH="false" flipV="false">
            <a:off x="6604000" y="1397000"/>
            <a:ext cx="4572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563EB"/>
                </a:solidFill>
                <a:latin typeface="Noto Sans SC"/>
                <a:ea typeface="Noto Sans SC"/>
                <a:cs typeface="Noto Sans SC"/>
                <a:sym typeface="Noto Sans SC"/>
              </a:rPr>
              <a:t>Now: Unified View</a:t>
            </a:r>
            <a:endParaRPr lang="en-US" sz="1100"/>
          </a:p>
        </p:txBody>
      </p:sp>
      <p:sp>
        <p:nvSpPr>
          <p:cNvPr name="AutoShape 17" id="17"/>
          <p:cNvSpPr/>
          <p:nvPr/>
        </p:nvSpPr>
        <p:spPr>
          <a:xfrm rot="0" flipH="false" flipV="false">
            <a:off x="6604000" y="1828800"/>
            <a:ext cx="5334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B82F6"/>
                </a:solidFill>
                <a:latin typeface="Noto Sans SC"/>
                <a:ea typeface="Noto Sans SC"/>
                <a:cs typeface="Noto Sans SC"/>
                <a:sym typeface="Noto Sans SC"/>
              </a:rPr>
              <a:t>Unified management of Entity, Business, and Function Trees</a:t>
            </a:r>
            <a:endParaRPr lang="en-US" sz="1100"/>
          </a:p>
        </p:txBody>
      </p:sp>
      <p:cxnSp>
        <p:nvCxnSpPr>
          <p:cNvPr name="Connector 18" id="18"/>
          <p:cNvCxnSpPr/>
          <p:nvPr/>
        </p:nvCxnSpPr>
        <p:spPr>
          <a:xfrm rot="-5457290" flipH="false" flipV="false">
            <a:off x="8509000" y="2787597"/>
            <a:ext cx="762000" cy="12700"/>
          </a:xfrm>
          <a:prstGeom prst="straightConnector1">
            <a:avLst/>
          </a:prstGeom>
          <a:solidFill>
            <a:srgbClr val="DEE0E3">
              <a:alpha val="100000"/>
            </a:srgbClr>
          </a:solidFill>
          <a:ln w="101600" cmpd="sng" cap="flat">
            <a:solidFill>
              <a:srgbClr val="374151">
                <a:alpha val="100000"/>
              </a:srgbClr>
            </a:solidFill>
            <a:prstDash val="solid"/>
            <a:round/>
            <a:headEnd type="none" w="lg" len="lg"/>
            <a:tailEnd type="none" w="lg" len="lg"/>
          </a:ln>
        </p:spPr>
      </p:cxnSp>
      <p:cxnSp>
        <p:nvCxnSpPr>
          <p:cNvPr name="Connector 19" id="19"/>
          <p:cNvCxnSpPr/>
          <p:nvPr/>
        </p:nvCxnSpPr>
        <p:spPr>
          <a:xfrm rot="-8826265" flipH="false" flipV="false">
            <a:off x="8051058" y="2152626"/>
            <a:ext cx="915810" cy="12700"/>
          </a:xfrm>
          <a:prstGeom prst="straightConnector1">
            <a:avLst/>
          </a:prstGeom>
          <a:solidFill>
            <a:srgbClr val="DEE0E3">
              <a:alpha val="100000"/>
            </a:srgbClr>
          </a:solidFill>
          <a:ln w="88900" cmpd="sng" cap="flat">
            <a:solidFill>
              <a:srgbClr val="374151">
                <a:alpha val="100000"/>
              </a:srgbClr>
            </a:solidFill>
            <a:prstDash val="solid"/>
            <a:round/>
            <a:headEnd type="none" w="lg" len="lg"/>
            <a:tailEnd type="none" w="lg" len="lg"/>
          </a:ln>
        </p:spPr>
      </p:cxnSp>
      <p:cxnSp>
        <p:nvCxnSpPr>
          <p:cNvPr name="Connector 20" id="20"/>
          <p:cNvCxnSpPr/>
          <p:nvPr/>
        </p:nvCxnSpPr>
        <p:spPr>
          <a:xfrm rot="-2069073" flipH="false" flipV="false">
            <a:off x="8813132" y="2152626"/>
            <a:ext cx="915810" cy="12700"/>
          </a:xfrm>
          <a:prstGeom prst="straightConnector1">
            <a:avLst/>
          </a:prstGeom>
          <a:solidFill>
            <a:srgbClr val="DEE0E3">
              <a:alpha val="100000"/>
            </a:srgbClr>
          </a:solidFill>
          <a:ln w="88900" cmpd="sng" cap="flat">
            <a:solidFill>
              <a:srgbClr val="374151">
                <a:alpha val="100000"/>
              </a:srgbClr>
            </a:solidFill>
            <a:prstDash val="solid"/>
            <a:round/>
            <a:headEnd type="none" w="lg" len="lg"/>
            <a:tailEnd type="none" w="lg" len="lg"/>
          </a:ln>
        </p:spPr>
      </p:cxnSp>
      <p:cxnSp>
        <p:nvCxnSpPr>
          <p:cNvPr name="Connector 21" id="21"/>
          <p:cNvCxnSpPr/>
          <p:nvPr/>
        </p:nvCxnSpPr>
        <p:spPr>
          <a:xfrm rot="8730926" flipH="false" flipV="false">
            <a:off x="8051058" y="3422674"/>
            <a:ext cx="915810" cy="12700"/>
          </a:xfrm>
          <a:prstGeom prst="straightConnector1">
            <a:avLst/>
          </a:prstGeom>
          <a:solidFill>
            <a:srgbClr val="DEE0E3">
              <a:alpha val="100000"/>
            </a:srgbClr>
          </a:solidFill>
          <a:ln w="88900" cmpd="sng" cap="flat">
            <a:solidFill>
              <a:srgbClr val="374151">
                <a:alpha val="100000"/>
              </a:srgbClr>
            </a:solidFill>
            <a:prstDash val="solid"/>
            <a:round/>
            <a:headEnd type="none" w="lg" len="lg"/>
            <a:tailEnd type="none" w="lg" len="lg"/>
          </a:ln>
        </p:spPr>
      </p:cxnSp>
      <p:cxnSp>
        <p:nvCxnSpPr>
          <p:cNvPr name="Connector 22" id="22"/>
          <p:cNvCxnSpPr/>
          <p:nvPr/>
        </p:nvCxnSpPr>
        <p:spPr>
          <a:xfrm rot="1973734" flipH="false" flipV="false">
            <a:off x="8813132" y="3422674"/>
            <a:ext cx="915810" cy="12700"/>
          </a:xfrm>
          <a:prstGeom prst="straightConnector1">
            <a:avLst/>
          </a:prstGeom>
          <a:solidFill>
            <a:srgbClr val="DEE0E3">
              <a:alpha val="100000"/>
            </a:srgbClr>
          </a:solidFill>
          <a:ln w="88900" cmpd="sng" cap="flat">
            <a:solidFill>
              <a:srgbClr val="374151">
                <a:alpha val="100000"/>
              </a:srgbClr>
            </a:solidFill>
            <a:prstDash val="solid"/>
            <a:round/>
            <a:headEnd type="none" w="lg" len="lg"/>
            <a:tailEnd type="none" w="lg" len="lg"/>
          </a:ln>
        </p:spPr>
      </p:cxnSp>
      <p:sp>
        <p:nvSpPr>
          <p:cNvPr name="AutoShape 23" id="23"/>
          <p:cNvSpPr/>
          <p:nvPr/>
        </p:nvSpPr>
        <p:spPr>
          <a:xfrm rot="0" flipH="false" flipV="false">
            <a:off x="8699500" y="2984500"/>
            <a:ext cx="381000" cy="381000"/>
          </a:xfrm>
          <a:prstGeom prst="ellipse">
            <a:avLst/>
          </a:prstGeom>
          <a:solidFill>
            <a:srgbClr val="DB0011">
              <a:alpha val="100000"/>
            </a:srgbClr>
          </a:solidFill>
          <a:ln w="50800" cmpd="sng" cap="flat">
            <a:solidFill>
              <a:srgbClr val="FFFFFF">
                <a:alpha val="100000"/>
              </a:srgbClr>
            </a:solidFill>
            <a:prstDash val="solid"/>
            <a:round/>
          </a:ln>
          <a:effectLst>
            <a:outerShdw dir="2700000" dist="152400" blurRad="571500" algn="tl" rotWithShape="false">
              <a:srgbClr val="000000">
                <a:alpha val="20000"/>
              </a:srgbClr>
            </a:outerShdw>
          </a:effectLst>
        </p:spPr>
        <p:txBody>
          <a:bodyPr anchor="ctr" rtlCol="false" anchorCtr="false" vert="horz" wrap="square" lIns="0" rIns="0" tIns="0" bIns="0"/>
          <a:lstStyle/>
          <a:p>
            <a:pPr algn="ctr">
              <a:defRPr/>
            </a:pPr>
            <a:endParaRPr/>
          </a:p>
        </p:txBody>
      </p:sp>
      <p:sp>
        <p:nvSpPr>
          <p:cNvPr name="AutoShape 24" id="24"/>
          <p:cNvSpPr/>
          <p:nvPr/>
        </p:nvSpPr>
        <p:spPr>
          <a:xfrm rot="0" flipH="false" flipV="false">
            <a:off x="8051800" y="1828800"/>
            <a:ext cx="279400" cy="279400"/>
          </a:xfrm>
          <a:prstGeom prst="ellipse">
            <a:avLst/>
          </a:prstGeom>
          <a:solidFill>
            <a:srgbClr val="DB0011">
              <a:alpha val="100000"/>
            </a:srgbClr>
          </a:solidFill>
          <a:ln w="381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25" id="25"/>
          <p:cNvSpPr/>
          <p:nvPr/>
        </p:nvSpPr>
        <p:spPr>
          <a:xfrm rot="0" flipH="false" flipV="false">
            <a:off x="9575800" y="1828800"/>
            <a:ext cx="279400" cy="279400"/>
          </a:xfrm>
          <a:prstGeom prst="ellipse">
            <a:avLst/>
          </a:prstGeom>
          <a:solidFill>
            <a:srgbClr val="DB0011">
              <a:alpha val="100000"/>
            </a:srgbClr>
          </a:solidFill>
          <a:ln w="381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26" id="26"/>
          <p:cNvSpPr/>
          <p:nvPr/>
        </p:nvSpPr>
        <p:spPr>
          <a:xfrm rot="0" flipH="false" flipV="false">
            <a:off x="8051800" y="3606800"/>
            <a:ext cx="279400" cy="279400"/>
          </a:xfrm>
          <a:prstGeom prst="ellipse">
            <a:avLst/>
          </a:prstGeom>
          <a:solidFill>
            <a:srgbClr val="DB0011">
              <a:alpha val="100000"/>
            </a:srgbClr>
          </a:solidFill>
          <a:ln w="381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27" id="27"/>
          <p:cNvSpPr/>
          <p:nvPr/>
        </p:nvSpPr>
        <p:spPr>
          <a:xfrm rot="0" flipH="false" flipV="false">
            <a:off x="9575800" y="3606800"/>
            <a:ext cx="279400" cy="279400"/>
          </a:xfrm>
          <a:prstGeom prst="ellipse">
            <a:avLst/>
          </a:prstGeom>
          <a:solidFill>
            <a:srgbClr val="DB0011">
              <a:alpha val="100000"/>
            </a:srgbClr>
          </a:solidFill>
          <a:ln w="381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cxnSp>
        <p:nvCxnSpPr>
          <p:cNvPr name="Connector 28" id="28"/>
          <p:cNvCxnSpPr/>
          <p:nvPr/>
        </p:nvCxnSpPr>
        <p:spPr>
          <a:xfrm rot="-5457290" flipH="false" flipV="false">
            <a:off x="2286000" y="3549597"/>
            <a:ext cx="762000" cy="12700"/>
          </a:xfrm>
          <a:prstGeom prst="straightConnector1">
            <a:avLst/>
          </a:prstGeom>
          <a:solidFill>
            <a:srgbClr val="DEE0E3">
              <a:alpha val="100000"/>
            </a:srgbClr>
          </a:solidFill>
          <a:ln w="38100" cmpd="sng" cap="flat">
            <a:solidFill>
              <a:srgbClr val="9CA3AF">
                <a:alpha val="100000"/>
              </a:srgbClr>
            </a:solidFill>
            <a:prstDash val="solid"/>
            <a:round/>
            <a:headEnd type="none" w="lg" len="lg"/>
            <a:tailEnd type="none" w="lg" len="lg"/>
          </a:ln>
        </p:spPr>
      </p:cxnSp>
      <p:cxnSp>
        <p:nvCxnSpPr>
          <p:cNvPr name="Connector 29" id="29"/>
          <p:cNvCxnSpPr/>
          <p:nvPr/>
        </p:nvCxnSpPr>
        <p:spPr>
          <a:xfrm rot="-8181013" flipH="false" flipV="false">
            <a:off x="2207039" y="2978097"/>
            <a:ext cx="538815" cy="12700"/>
          </a:xfrm>
          <a:prstGeom prst="straightConnector1">
            <a:avLst/>
          </a:prstGeom>
          <a:solidFill>
            <a:srgbClr val="DEE0E3">
              <a:alpha val="100000"/>
            </a:srgbClr>
          </a:solidFill>
          <a:ln w="38100" cmpd="sng" cap="flat">
            <a:solidFill>
              <a:srgbClr val="9CA3AF">
                <a:alpha val="100000"/>
              </a:srgbClr>
            </a:solidFill>
            <a:prstDash val="solid"/>
            <a:round/>
            <a:headEnd type="none" w="lg" len="lg"/>
            <a:tailEnd type="none" w="lg" len="lg"/>
          </a:ln>
        </p:spPr>
      </p:cxnSp>
      <p:cxnSp>
        <p:nvCxnSpPr>
          <p:cNvPr name="Connector 30" id="30"/>
          <p:cNvCxnSpPr/>
          <p:nvPr/>
        </p:nvCxnSpPr>
        <p:spPr>
          <a:xfrm rot="-2781013" flipH="false" flipV="false">
            <a:off x="2588145" y="2978097"/>
            <a:ext cx="538815" cy="12700"/>
          </a:xfrm>
          <a:prstGeom prst="straightConnector1">
            <a:avLst/>
          </a:prstGeom>
          <a:solidFill>
            <a:srgbClr val="DEE0E3">
              <a:alpha val="100000"/>
            </a:srgbClr>
          </a:solidFill>
          <a:ln w="38100" cmpd="sng" cap="flat">
            <a:solidFill>
              <a:srgbClr val="9CA3AF">
                <a:alpha val="100000"/>
              </a:srgbClr>
            </a:solidFill>
            <a:prstDash val="solid"/>
            <a:round/>
            <a:headEnd type="none" w="lg" len="lg"/>
            <a:tailEnd type="none" w="lg" len="lg"/>
          </a:ln>
        </p:spPr>
      </p:cxnSp>
      <p:sp>
        <p:nvSpPr>
          <p:cNvPr name="AutoShape 31" id="31"/>
          <p:cNvSpPr/>
          <p:nvPr/>
        </p:nvSpPr>
        <p:spPr>
          <a:xfrm rot="0" flipH="false" flipV="false">
            <a:off x="2565400" y="3835400"/>
            <a:ext cx="203200" cy="203200"/>
          </a:xfrm>
          <a:prstGeom prst="ellipse">
            <a:avLst/>
          </a:prstGeom>
          <a:solidFill>
            <a:srgbClr val="9CA3AF">
              <a:alpha val="100000"/>
            </a:srgbClr>
          </a:solidFill>
          <a:ln w="254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32" id="32"/>
          <p:cNvSpPr/>
          <p:nvPr/>
        </p:nvSpPr>
        <p:spPr>
          <a:xfrm rot="0" flipH="false" flipV="false">
            <a:off x="2209800" y="2705100"/>
            <a:ext cx="152400" cy="152400"/>
          </a:xfrm>
          <a:prstGeom prst="ellipse">
            <a:avLst/>
          </a:prstGeom>
          <a:solidFill>
            <a:srgbClr val="9CA3AF">
              <a:alpha val="100000"/>
            </a:srgbClr>
          </a:solidFill>
          <a:ln w="254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33" id="33"/>
          <p:cNvSpPr/>
          <p:nvPr/>
        </p:nvSpPr>
        <p:spPr>
          <a:xfrm rot="0" flipH="false" flipV="false">
            <a:off x="2971800" y="2705100"/>
            <a:ext cx="152400" cy="152400"/>
          </a:xfrm>
          <a:prstGeom prst="ellipse">
            <a:avLst/>
          </a:prstGeom>
          <a:solidFill>
            <a:srgbClr val="9CA3AF">
              <a:alpha val="100000"/>
            </a:srgbClr>
          </a:solidFill>
          <a:ln w="254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cxnSp>
        <p:nvCxnSpPr>
          <p:cNvPr name="Connector 34" id="34"/>
          <p:cNvCxnSpPr/>
          <p:nvPr/>
        </p:nvCxnSpPr>
        <p:spPr>
          <a:xfrm rot="-5457290" flipH="false" flipV="false">
            <a:off x="1524000" y="4311597"/>
            <a:ext cx="762000" cy="12700"/>
          </a:xfrm>
          <a:prstGeom prst="straightConnector1">
            <a:avLst/>
          </a:prstGeom>
          <a:solidFill>
            <a:srgbClr val="DEE0E3">
              <a:alpha val="100000"/>
            </a:srgbClr>
          </a:solidFill>
          <a:ln w="38100" cmpd="sng" cap="flat">
            <a:solidFill>
              <a:srgbClr val="9CA3AF">
                <a:alpha val="100000"/>
              </a:srgbClr>
            </a:solidFill>
            <a:prstDash val="solid"/>
            <a:round/>
            <a:headEnd type="none" w="lg" len="lg"/>
            <a:tailEnd type="none" w="lg" len="lg"/>
          </a:ln>
        </p:spPr>
      </p:cxnSp>
      <p:cxnSp>
        <p:nvCxnSpPr>
          <p:cNvPr name="Connector 35" id="35"/>
          <p:cNvCxnSpPr/>
          <p:nvPr/>
        </p:nvCxnSpPr>
        <p:spPr>
          <a:xfrm rot="8018986" flipH="false" flipV="false">
            <a:off x="1445039" y="4883203"/>
            <a:ext cx="538815" cy="12700"/>
          </a:xfrm>
          <a:prstGeom prst="straightConnector1">
            <a:avLst/>
          </a:prstGeom>
          <a:solidFill>
            <a:srgbClr val="DEE0E3">
              <a:alpha val="100000"/>
            </a:srgbClr>
          </a:solidFill>
          <a:ln w="38100" cmpd="sng" cap="flat">
            <a:solidFill>
              <a:srgbClr val="9CA3AF">
                <a:alpha val="100000"/>
              </a:srgbClr>
            </a:solidFill>
            <a:prstDash val="solid"/>
            <a:round/>
            <a:headEnd type="none" w="lg" len="lg"/>
            <a:tailEnd type="none" w="lg" len="lg"/>
          </a:ln>
        </p:spPr>
      </p:cxnSp>
      <p:cxnSp>
        <p:nvCxnSpPr>
          <p:cNvPr name="Connector 36" id="36"/>
          <p:cNvCxnSpPr/>
          <p:nvPr/>
        </p:nvCxnSpPr>
        <p:spPr>
          <a:xfrm rot="2618986" flipH="false" flipV="false">
            <a:off x="1826145" y="4883203"/>
            <a:ext cx="538815" cy="12700"/>
          </a:xfrm>
          <a:prstGeom prst="straightConnector1">
            <a:avLst/>
          </a:prstGeom>
          <a:solidFill>
            <a:srgbClr val="DEE0E3">
              <a:alpha val="100000"/>
            </a:srgbClr>
          </a:solidFill>
          <a:ln w="38100" cmpd="sng" cap="flat">
            <a:solidFill>
              <a:srgbClr val="9CA3AF">
                <a:alpha val="100000"/>
              </a:srgbClr>
            </a:solidFill>
            <a:prstDash val="solid"/>
            <a:round/>
            <a:headEnd type="none" w="lg" len="lg"/>
            <a:tailEnd type="none" w="lg" len="lg"/>
          </a:ln>
        </p:spPr>
      </p:cxnSp>
      <p:sp>
        <p:nvSpPr>
          <p:cNvPr name="AutoShape 37" id="37"/>
          <p:cNvSpPr/>
          <p:nvPr/>
        </p:nvSpPr>
        <p:spPr>
          <a:xfrm rot="0" flipH="false" flipV="false">
            <a:off x="1803400" y="4597400"/>
            <a:ext cx="203200" cy="203200"/>
          </a:xfrm>
          <a:prstGeom prst="ellipse">
            <a:avLst/>
          </a:prstGeom>
          <a:solidFill>
            <a:srgbClr val="9CA3AF">
              <a:alpha val="100000"/>
            </a:srgbClr>
          </a:solidFill>
          <a:ln w="254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38" id="38"/>
          <p:cNvSpPr/>
          <p:nvPr/>
        </p:nvSpPr>
        <p:spPr>
          <a:xfrm rot="0" flipH="false" flipV="false">
            <a:off x="1447800" y="4991100"/>
            <a:ext cx="152400" cy="152400"/>
          </a:xfrm>
          <a:prstGeom prst="ellipse">
            <a:avLst/>
          </a:prstGeom>
          <a:solidFill>
            <a:srgbClr val="9CA3AF">
              <a:alpha val="100000"/>
            </a:srgbClr>
          </a:solidFill>
          <a:ln w="254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39" id="39"/>
          <p:cNvSpPr/>
          <p:nvPr/>
        </p:nvSpPr>
        <p:spPr>
          <a:xfrm rot="0" flipH="false" flipV="false">
            <a:off x="2209800" y="4991100"/>
            <a:ext cx="152400" cy="152400"/>
          </a:xfrm>
          <a:prstGeom prst="ellipse">
            <a:avLst/>
          </a:prstGeom>
          <a:solidFill>
            <a:srgbClr val="9CA3AF">
              <a:alpha val="100000"/>
            </a:srgbClr>
          </a:solidFill>
          <a:ln w="25400" cmpd="sng" cap="flat">
            <a:solidFill>
              <a:srgbClr val="FFFFFF">
                <a:alpha val="100000"/>
              </a:srgbClr>
            </a:solidFill>
            <a:prstDash val="solid"/>
            <a:round/>
          </a:ln>
        </p:spPr>
        <p:txBody>
          <a:bodyPr anchor="ctr" rtlCol="false" anchorCtr="false" vert="horz" wrap="square" lIns="0" rIns="0" tIns="0" bIns="0"/>
          <a:lstStyle/>
          <a:p>
            <a:pPr algn="ctr">
              <a:defRPr/>
            </a:pPr>
            <a:endParaRPr/>
          </a:p>
        </p:txBody>
      </p:sp>
      <p:sp>
        <p:nvSpPr>
          <p:cNvPr name="AutoShape 40" id="40"/>
          <p:cNvSpPr/>
          <p:nvPr/>
        </p:nvSpPr>
        <p:spPr>
          <a:xfrm rot="0" flipH="false" flipV="false">
            <a:off x="7810500" y="1651000"/>
            <a:ext cx="1905000" cy="279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374151"/>
                </a:solidFill>
                <a:latin typeface="Noto Sans SC"/>
                <a:ea typeface="Noto Sans SC"/>
                <a:cs typeface="Noto Sans SC"/>
                <a:sym typeface="Noto Sans SC"/>
              </a:rPr>
              <a:t>Entity Tree</a:t>
            </a:r>
            <a:endParaRPr lang="en-US" sz="1100"/>
          </a:p>
        </p:txBody>
      </p:sp>
      <p:sp>
        <p:nvSpPr>
          <p:cNvPr name="AutoShape 41" id="41"/>
          <p:cNvSpPr/>
          <p:nvPr/>
        </p:nvSpPr>
        <p:spPr>
          <a:xfrm rot="0" flipH="false" flipV="false">
            <a:off x="9334500" y="1651000"/>
            <a:ext cx="1905000" cy="279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374151"/>
                </a:solidFill>
                <a:latin typeface="Noto Sans SC"/>
                <a:ea typeface="Noto Sans SC"/>
                <a:cs typeface="Noto Sans SC"/>
                <a:sym typeface="Noto Sans SC"/>
              </a:rPr>
              <a:t>Business Tree</a:t>
            </a:r>
            <a:endParaRPr lang="en-US" sz="1100"/>
          </a:p>
        </p:txBody>
      </p:sp>
      <p:sp>
        <p:nvSpPr>
          <p:cNvPr name="AutoShape 42" id="42"/>
          <p:cNvSpPr/>
          <p:nvPr/>
        </p:nvSpPr>
        <p:spPr>
          <a:xfrm rot="0" flipH="false" flipV="false">
            <a:off x="7810500" y="3937000"/>
            <a:ext cx="1905000" cy="279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374151"/>
                </a:solidFill>
                <a:latin typeface="Noto Sans SC"/>
                <a:ea typeface="Noto Sans SC"/>
                <a:cs typeface="Noto Sans SC"/>
                <a:sym typeface="Noto Sans SC"/>
              </a:rPr>
              <a:t>Function Tree</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609600" y="406400"/>
            <a:ext cx="10972800" cy="660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333333"/>
                </a:solidFill>
                <a:latin typeface="Poppins"/>
                <a:ea typeface="Poppins"/>
                <a:cs typeface="Poppins"/>
                <a:sym typeface="Poppins"/>
              </a:rPr>
              <a:t>How It Works: Scenario 1 - New Employee Onboarding</a:t>
            </a:r>
            <a:endParaRPr lang="en-US" sz="1100"/>
          </a:p>
        </p:txBody>
      </p:sp>
      <p:cxnSp>
        <p:nvCxnSpPr>
          <p:cNvPr name="Connector 4" id="4"/>
          <p:cNvCxnSpPr/>
          <p:nvPr/>
        </p:nvCxnSpPr>
        <p:spPr>
          <a:xfrm rot="-3978" flipH="false" flipV="false">
            <a:off x="609604" y="1212850"/>
            <a:ext cx="10972800" cy="12700"/>
          </a:xfrm>
          <a:prstGeom prst="straightConnector1">
            <a:avLst/>
          </a:prstGeom>
          <a:solidFill>
            <a:srgbClr val="DEE0E3">
              <a:alpha val="100000"/>
            </a:srgbClr>
          </a:solidFill>
          <a:ln w="12700" cmpd="sng" cap="flat">
            <a:solidFill>
              <a:srgbClr val="DB0011">
                <a:alpha val="50000"/>
              </a:srgbClr>
            </a:solidFill>
            <a:prstDash val="solid"/>
            <a:round/>
            <a:headEnd type="none" w="med" len="med"/>
            <a:tailEnd type="none" w="med" len="med"/>
          </a:ln>
        </p:spPr>
      </p:cxnSp>
      <p:sp>
        <p:nvSpPr>
          <p:cNvPr name="AutoShape 5" id="5"/>
          <p:cNvSpPr/>
          <p:nvPr/>
        </p:nvSpPr>
        <p:spPr>
          <a:xfrm rot="0" flipH="false" flipV="false">
            <a:off x="609600" y="1524000"/>
            <a:ext cx="508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0000"/>
                </a:solidFill>
                <a:latin typeface="Noto Sans SC"/>
                <a:ea typeface="Noto Sans SC"/>
                <a:cs typeface="Noto Sans SC"/>
                <a:sym typeface="Noto Sans SC"/>
              </a:rPr>
              <a:t>Before (Complex)</a:t>
            </a:r>
            <a:endParaRPr lang="en-US" sz="1100"/>
          </a:p>
        </p:txBody>
      </p:sp>
      <p:sp>
        <p:nvSpPr>
          <p:cNvPr name="AutoShape 6" id="6"/>
          <p:cNvSpPr/>
          <p:nvPr/>
        </p:nvSpPr>
        <p:spPr>
          <a:xfrm rot="0" flipH="false" flipV="false">
            <a:off x="609600" y="1930400"/>
            <a:ext cx="4826000" cy="762000"/>
          </a:xfrm>
          <a:prstGeom prst="roundRect">
            <a:avLst>
              <a:gd name="adj" fmla="val 20000"/>
            </a:avLst>
          </a:prstGeom>
          <a:solidFill>
            <a:srgbClr val="F5F5F5">
              <a:alpha val="100000"/>
            </a:srgbClr>
          </a:solidFill>
          <a:ln w="12700" cmpd="sng" cap="flat">
            <a:solidFill>
              <a:srgbClr val="BDBDBD">
                <a:alpha val="100000"/>
              </a:srgbClr>
            </a:solidFill>
            <a:prstDash val="solid"/>
            <a:round/>
          </a:ln>
          <a:effectLst>
            <a:outerShdw dir="5400000" dist="76200" blurRad="228600" algn="tl" rotWithShape="false">
              <a:srgbClr val="000000">
                <a:alpha val="10000"/>
              </a:srgbClr>
            </a:outerShdw>
          </a:effectLst>
        </p:spPr>
        <p:txBody>
          <a:bodyPr anchor="ctr" rtlCol="false" anchorCtr="false" vert="horz" wrap="square" lIns="0" rIns="0" tIns="0" bIns="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812800" y="2260600"/>
            <a:ext cx="254000" cy="254000"/>
          </a:xfrm>
          <a:prstGeom prst="rect">
            <a:avLst/>
          </a:prstGeom>
        </p:spPr>
      </p:pic>
      <p:sp>
        <p:nvSpPr>
          <p:cNvPr name="AutoShape 8" id="8"/>
          <p:cNvSpPr/>
          <p:nvPr/>
        </p:nvSpPr>
        <p:spPr>
          <a:xfrm rot="0" flipH="false" flipV="false">
            <a:off x="1219200" y="22352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A4A4A"/>
                </a:solidFill>
                <a:latin typeface="Noto Sans SC"/>
                <a:ea typeface="Noto Sans SC"/>
                <a:cs typeface="Noto Sans SC"/>
                <a:sym typeface="Noto Sans SC"/>
              </a:rPr>
              <a:t>Multiple Tickets</a:t>
            </a:r>
            <a:endParaRPr lang="en-US" sz="1100"/>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2844800" y="2705100"/>
            <a:ext cx="330200" cy="330200"/>
          </a:xfrm>
          <a:prstGeom prst="rect">
            <a:avLst/>
          </a:prstGeom>
        </p:spPr>
      </p:pic>
      <p:sp>
        <p:nvSpPr>
          <p:cNvPr name="AutoShape 10" id="10"/>
          <p:cNvSpPr/>
          <p:nvPr/>
        </p:nvSpPr>
        <p:spPr>
          <a:xfrm rot="0" flipH="false" flipV="false">
            <a:off x="609600" y="2997200"/>
            <a:ext cx="4826000" cy="762000"/>
          </a:xfrm>
          <a:prstGeom prst="roundRect">
            <a:avLst>
              <a:gd name="adj" fmla="val 20000"/>
            </a:avLst>
          </a:prstGeom>
          <a:solidFill>
            <a:srgbClr val="F5F5F5">
              <a:alpha val="100000"/>
            </a:srgbClr>
          </a:solidFill>
          <a:ln w="12700" cmpd="sng" cap="flat">
            <a:solidFill>
              <a:srgbClr val="BDBDBD">
                <a:alpha val="100000"/>
              </a:srgbClr>
            </a:solidFill>
            <a:prstDash val="solid"/>
            <a:round/>
          </a:ln>
          <a:effectLst>
            <a:outerShdw dir="5400000" dist="76200" blurRad="228600" algn="tl" rotWithShape="false">
              <a:srgbClr val="000000">
                <a:alpha val="10000"/>
              </a:srgbClr>
            </a:outerShdw>
          </a:effectLst>
        </p:spPr>
        <p:txBody>
          <a:bodyPr anchor="ctr" rtlCol="false" anchorCtr="false" vert="horz" wrap="square" lIns="0" rIns="0" tIns="0" bIns="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12800" y="3327400"/>
            <a:ext cx="254000" cy="254000"/>
          </a:xfrm>
          <a:prstGeom prst="rect">
            <a:avLst/>
          </a:prstGeom>
        </p:spPr>
      </p:pic>
      <p:sp>
        <p:nvSpPr>
          <p:cNvPr name="AutoShape 12" id="12"/>
          <p:cNvSpPr/>
          <p:nvPr/>
        </p:nvSpPr>
        <p:spPr>
          <a:xfrm rot="0" flipH="false" flipV="false">
            <a:off x="1219200" y="33020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A4A4A"/>
                </a:solidFill>
                <a:latin typeface="Noto Sans SC"/>
                <a:ea typeface="Noto Sans SC"/>
                <a:cs typeface="Noto Sans SC"/>
                <a:sym typeface="Noto Sans SC"/>
              </a:rPr>
              <a:t>Multiple Teams</a:t>
            </a:r>
            <a:endParaRPr lang="en-US" sz="1100"/>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2844800" y="3771900"/>
            <a:ext cx="330200" cy="330200"/>
          </a:xfrm>
          <a:prstGeom prst="rect">
            <a:avLst/>
          </a:prstGeom>
        </p:spPr>
      </p:pic>
      <p:sp>
        <p:nvSpPr>
          <p:cNvPr name="AutoShape 14" id="14"/>
          <p:cNvSpPr/>
          <p:nvPr/>
        </p:nvSpPr>
        <p:spPr>
          <a:xfrm rot="0" flipH="false" flipV="false">
            <a:off x="609600" y="4064000"/>
            <a:ext cx="4826000" cy="762000"/>
          </a:xfrm>
          <a:prstGeom prst="roundRect">
            <a:avLst>
              <a:gd name="adj" fmla="val 20000"/>
            </a:avLst>
          </a:prstGeom>
          <a:solidFill>
            <a:srgbClr val="F5F5F5">
              <a:alpha val="100000"/>
            </a:srgbClr>
          </a:solidFill>
          <a:ln w="12700" cmpd="sng" cap="flat">
            <a:solidFill>
              <a:srgbClr val="BDBDBD">
                <a:alpha val="100000"/>
              </a:srgbClr>
            </a:solidFill>
            <a:prstDash val="solid"/>
            <a:round/>
          </a:ln>
          <a:effectLst>
            <a:outerShdw dir="5400000" dist="76200" blurRad="228600" algn="tl" rotWithShape="false">
              <a:srgbClr val="000000">
                <a:alpha val="10000"/>
              </a:srgbClr>
            </a:outerShdw>
          </a:effectLst>
        </p:spPr>
        <p:txBody>
          <a:bodyPr anchor="ctr" rtlCol="false" anchorCtr="false" vert="horz" wrap="square" lIns="0" rIns="0" tIns="0" bIns="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12800" y="4394200"/>
            <a:ext cx="254000" cy="254000"/>
          </a:xfrm>
          <a:prstGeom prst="rect">
            <a:avLst/>
          </a:prstGeom>
        </p:spPr>
      </p:pic>
      <p:sp>
        <p:nvSpPr>
          <p:cNvPr name="AutoShape 16" id="16"/>
          <p:cNvSpPr/>
          <p:nvPr/>
        </p:nvSpPr>
        <p:spPr>
          <a:xfrm rot="0" flipH="false" flipV="false">
            <a:off x="1219200" y="43688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A4A4A"/>
                </a:solidFill>
                <a:latin typeface="Noto Sans SC"/>
                <a:ea typeface="Noto Sans SC"/>
                <a:cs typeface="Noto Sans SC"/>
                <a:sym typeface="Noto Sans SC"/>
              </a:rPr>
              <a:t>Manual Assignment of 40+ AD Groups</a:t>
            </a:r>
            <a:endParaRPr lang="en-US" sz="1100"/>
          </a:p>
        </p:txBody>
      </p:sp>
      <p:pic>
        <p:nvPicPr>
          <p:cNvPr name="Picture 17" id="1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2844800" y="4838700"/>
            <a:ext cx="330200" cy="330200"/>
          </a:xfrm>
          <a:prstGeom prst="rect">
            <a:avLst/>
          </a:prstGeom>
        </p:spPr>
      </p:pic>
      <p:sp>
        <p:nvSpPr>
          <p:cNvPr name="AutoShape 18" id="18"/>
          <p:cNvSpPr/>
          <p:nvPr/>
        </p:nvSpPr>
        <p:spPr>
          <a:xfrm rot="0" flipH="false" flipV="false">
            <a:off x="609600" y="5130800"/>
            <a:ext cx="4826000" cy="762000"/>
          </a:xfrm>
          <a:prstGeom prst="roundRect">
            <a:avLst>
              <a:gd name="adj" fmla="val 20000"/>
            </a:avLst>
          </a:prstGeom>
          <a:solidFill>
            <a:srgbClr val="F5F5F5">
              <a:alpha val="100000"/>
            </a:srgbClr>
          </a:solidFill>
          <a:ln w="12700" cmpd="sng" cap="flat">
            <a:solidFill>
              <a:srgbClr val="BDBDBD">
                <a:alpha val="100000"/>
              </a:srgbClr>
            </a:solidFill>
            <a:prstDash val="solid"/>
            <a:round/>
          </a:ln>
          <a:effectLst>
            <a:outerShdw dir="5400000" dist="76200" blurRad="228600" algn="tl" rotWithShape="false">
              <a:srgbClr val="000000">
                <a:alpha val="10000"/>
              </a:srgbClr>
            </a:outerShdw>
          </a:effectLst>
        </p:spPr>
        <p:txBody>
          <a:bodyPr anchor="ctr" rtlCol="false" anchorCtr="false" vert="horz" wrap="square" lIns="0" rIns="0" tIns="0" bIns="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12800" y="5461000"/>
            <a:ext cx="254000" cy="254000"/>
          </a:xfrm>
          <a:prstGeom prst="rect">
            <a:avLst/>
          </a:prstGeom>
        </p:spPr>
      </p:pic>
      <p:sp>
        <p:nvSpPr>
          <p:cNvPr name="AutoShape 20" id="20"/>
          <p:cNvSpPr/>
          <p:nvPr/>
        </p:nvSpPr>
        <p:spPr>
          <a:xfrm rot="0" flipH="false" flipV="false">
            <a:off x="1219200" y="54356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A4A4A"/>
                </a:solidFill>
                <a:latin typeface="Noto Sans SC"/>
                <a:ea typeface="Noto Sans SC"/>
                <a:cs typeface="Noto Sans SC"/>
                <a:sym typeface="Noto Sans SC"/>
              </a:rPr>
              <a:t>Waiting for a Week</a:t>
            </a:r>
            <a:endParaRPr lang="en-US" sz="1100"/>
          </a:p>
        </p:txBody>
      </p:sp>
      <p:cxnSp>
        <p:nvCxnSpPr>
          <p:cNvPr name="Connector 21" id="21"/>
          <p:cNvCxnSpPr/>
          <p:nvPr/>
        </p:nvCxnSpPr>
        <p:spPr>
          <a:xfrm rot="5390006" flipH="false" flipV="false">
            <a:off x="3911600" y="3702059"/>
            <a:ext cx="4368800" cy="12700"/>
          </a:xfrm>
          <a:prstGeom prst="straightConnector1">
            <a:avLst/>
          </a:prstGeom>
          <a:solidFill>
            <a:srgbClr val="DEE0E3">
              <a:alpha val="100000"/>
            </a:srgbClr>
          </a:solidFill>
          <a:ln w="12700" cmpd="sng" cap="flat">
            <a:solidFill>
              <a:srgbClr val="6B7280">
                <a:alpha val="50000"/>
              </a:srgbClr>
            </a:solidFill>
            <a:prstDash val="dash"/>
            <a:round/>
            <a:headEnd type="none" w="med" len="med"/>
            <a:tailEnd type="none" w="med" len="med"/>
          </a:ln>
        </p:spPr>
      </p:cxnSp>
      <p:sp>
        <p:nvSpPr>
          <p:cNvPr name="AutoShape 22" id="22"/>
          <p:cNvSpPr/>
          <p:nvPr/>
        </p:nvSpPr>
        <p:spPr>
          <a:xfrm rot="0" flipH="false" flipV="false">
            <a:off x="6502400" y="1524000"/>
            <a:ext cx="508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0000"/>
                </a:solidFill>
                <a:latin typeface="Noto Sans SC"/>
                <a:ea typeface="Noto Sans SC"/>
                <a:cs typeface="Noto Sans SC"/>
                <a:sym typeface="Noto Sans SC"/>
              </a:rPr>
              <a:t>After (Simple)</a:t>
            </a:r>
            <a:endParaRPr lang="en-US" sz="1100"/>
          </a:p>
        </p:txBody>
      </p:sp>
      <p:sp>
        <p:nvSpPr>
          <p:cNvPr name="AutoShape 23" id="23"/>
          <p:cNvSpPr/>
          <p:nvPr/>
        </p:nvSpPr>
        <p:spPr>
          <a:xfrm rot="0" flipH="false" flipV="false">
            <a:off x="6502400" y="1930400"/>
            <a:ext cx="4826000" cy="762000"/>
          </a:xfrm>
          <a:prstGeom prst="roundRect">
            <a:avLst>
              <a:gd name="adj" fmla="val 20000"/>
            </a:avLst>
          </a:prstGeom>
          <a:solidFill>
            <a:srgbClr val="FFF8F8">
              <a:alpha val="100000"/>
            </a:srgbClr>
          </a:solidFill>
          <a:ln w="25400" cmpd="sng" cap="flat">
            <a:solidFill>
              <a:srgbClr val="DB0011">
                <a:alpha val="100000"/>
              </a:srgbClr>
            </a:solidFill>
            <a:prstDash val="solid"/>
            <a:round/>
          </a:ln>
          <a:effectLst>
            <a:outerShdw dir="5400000" dist="127000" blurRad="330200" algn="tl" rotWithShape="false">
              <a:srgbClr val="DB0011">
                <a:alpha val="22000"/>
              </a:srgbClr>
            </a:outerShdw>
          </a:effectLst>
        </p:spPr>
        <p:txBody>
          <a:bodyPr anchor="ctr" rtlCol="false" anchorCtr="false" vert="horz" wrap="square" lIns="0" rIns="0" tIns="0" bIns="0"/>
          <a:lstStyle/>
          <a:p>
            <a:pPr algn="ctr">
              <a:defRPr/>
            </a:pPr>
            <a:endParaRPr/>
          </a:p>
        </p:txBody>
      </p:sp>
      <p:pic>
        <p:nvPicPr>
          <p:cNvPr name="Picture 24" id="24"/>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705600" y="2260600"/>
            <a:ext cx="254000" cy="254000"/>
          </a:xfrm>
          <a:prstGeom prst="rect">
            <a:avLst/>
          </a:prstGeom>
        </p:spPr>
      </p:pic>
      <p:sp>
        <p:nvSpPr>
          <p:cNvPr name="AutoShape 25" id="25"/>
          <p:cNvSpPr/>
          <p:nvPr/>
        </p:nvSpPr>
        <p:spPr>
          <a:xfrm rot="0" flipH="false" flipV="false">
            <a:off x="7112000" y="22352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A4A4A"/>
                </a:solidFill>
                <a:latin typeface="Noto Sans SC"/>
                <a:ea typeface="Noto Sans SC"/>
                <a:cs typeface="Noto Sans SC"/>
                <a:sym typeface="Noto Sans SC"/>
              </a:rPr>
              <a:t>Manager Requests Role</a:t>
            </a:r>
            <a:endParaRPr lang="en-US" sz="1100"/>
          </a:p>
        </p:txBody>
      </p:sp>
      <p:pic>
        <p:nvPicPr>
          <p:cNvPr name="Picture 26" id="26"/>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8737600" y="2679700"/>
            <a:ext cx="355600" cy="355600"/>
          </a:xfrm>
          <a:prstGeom prst="rect">
            <a:avLst/>
          </a:prstGeom>
        </p:spPr>
      </p:pic>
      <p:sp>
        <p:nvSpPr>
          <p:cNvPr name="AutoShape 27" id="27"/>
          <p:cNvSpPr/>
          <p:nvPr/>
        </p:nvSpPr>
        <p:spPr>
          <a:xfrm rot="0" flipH="false" flipV="false">
            <a:off x="6502400" y="2997200"/>
            <a:ext cx="4826000" cy="762000"/>
          </a:xfrm>
          <a:prstGeom prst="roundRect">
            <a:avLst>
              <a:gd name="adj" fmla="val 20000"/>
            </a:avLst>
          </a:prstGeom>
          <a:solidFill>
            <a:srgbClr val="FFF8F8">
              <a:alpha val="100000"/>
            </a:srgbClr>
          </a:solidFill>
          <a:ln w="25400" cmpd="sng" cap="flat">
            <a:solidFill>
              <a:srgbClr val="DB0011">
                <a:alpha val="100000"/>
              </a:srgbClr>
            </a:solidFill>
            <a:prstDash val="solid"/>
            <a:round/>
          </a:ln>
          <a:effectLst>
            <a:outerShdw dir="5400000" dist="127000" blurRad="330200" algn="tl" rotWithShape="false">
              <a:srgbClr val="DB0011">
                <a:alpha val="22000"/>
              </a:srgbClr>
            </a:outerShdw>
          </a:effectLst>
        </p:spPr>
        <p:txBody>
          <a:bodyPr anchor="ctr" rtlCol="false" anchorCtr="false" vert="horz" wrap="square" lIns="0" rIns="0" tIns="0" bIns="0"/>
          <a:lstStyle/>
          <a:p>
            <a:pPr algn="ctr">
              <a:defRPr/>
            </a:pPr>
            <a:endParaRPr/>
          </a:p>
        </p:txBody>
      </p:sp>
      <p:pic>
        <p:nvPicPr>
          <p:cNvPr name="Picture 28" id="28"/>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6705600" y="3327400"/>
            <a:ext cx="254000" cy="254000"/>
          </a:xfrm>
          <a:prstGeom prst="rect">
            <a:avLst/>
          </a:prstGeom>
        </p:spPr>
      </p:pic>
      <p:sp>
        <p:nvSpPr>
          <p:cNvPr name="AutoShape 29" id="29"/>
          <p:cNvSpPr/>
          <p:nvPr/>
        </p:nvSpPr>
        <p:spPr>
          <a:xfrm rot="0" flipH="false" flipV="false">
            <a:off x="7112000" y="33020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A4A4A"/>
                </a:solidFill>
                <a:latin typeface="Noto Sans SC"/>
                <a:ea typeface="Noto Sans SC"/>
                <a:cs typeface="Noto Sans SC"/>
                <a:sym typeface="Noto Sans SC"/>
              </a:rPr>
              <a:t>Auto Approval</a:t>
            </a:r>
            <a:endParaRPr lang="en-US" sz="1100"/>
          </a:p>
        </p:txBody>
      </p:sp>
      <p:pic>
        <p:nvPicPr>
          <p:cNvPr name="Picture 30" id="30"/>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8737600" y="3746500"/>
            <a:ext cx="355600" cy="355600"/>
          </a:xfrm>
          <a:prstGeom prst="rect">
            <a:avLst/>
          </a:prstGeom>
        </p:spPr>
      </p:pic>
      <p:sp>
        <p:nvSpPr>
          <p:cNvPr name="AutoShape 31" id="31"/>
          <p:cNvSpPr/>
          <p:nvPr/>
        </p:nvSpPr>
        <p:spPr>
          <a:xfrm rot="0" flipH="false" flipV="false">
            <a:off x="6502400" y="4064000"/>
            <a:ext cx="4826000" cy="762000"/>
          </a:xfrm>
          <a:prstGeom prst="roundRect">
            <a:avLst>
              <a:gd name="adj" fmla="val 20000"/>
            </a:avLst>
          </a:prstGeom>
          <a:solidFill>
            <a:srgbClr val="FFF8F8">
              <a:alpha val="100000"/>
            </a:srgbClr>
          </a:solidFill>
          <a:ln w="25400" cmpd="sng" cap="flat">
            <a:solidFill>
              <a:srgbClr val="DB0011">
                <a:alpha val="100000"/>
              </a:srgbClr>
            </a:solidFill>
            <a:prstDash val="solid"/>
            <a:round/>
          </a:ln>
          <a:effectLst>
            <a:outerShdw dir="5400000" dist="127000" blurRad="330200" algn="tl" rotWithShape="false">
              <a:srgbClr val="DB0011">
                <a:alpha val="22000"/>
              </a:srgbClr>
            </a:outerShdw>
          </a:effectLst>
        </p:spPr>
        <p:txBody>
          <a:bodyPr anchor="ctr" rtlCol="false" anchorCtr="false" vert="horz" wrap="square" lIns="0" rIns="0" tIns="0" bIns="0"/>
          <a:lstStyle/>
          <a:p>
            <a:pPr algn="ctr">
              <a:defRPr/>
            </a:pPr>
            <a:endParaRPr/>
          </a:p>
        </p:txBody>
      </p:sp>
      <p:pic>
        <p:nvPicPr>
          <p:cNvPr name="Picture 32" id="32"/>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6705600" y="4394200"/>
            <a:ext cx="254000" cy="254000"/>
          </a:xfrm>
          <a:prstGeom prst="rect">
            <a:avLst/>
          </a:prstGeom>
        </p:spPr>
      </p:pic>
      <p:sp>
        <p:nvSpPr>
          <p:cNvPr name="AutoShape 33" id="33"/>
          <p:cNvSpPr/>
          <p:nvPr/>
        </p:nvSpPr>
        <p:spPr>
          <a:xfrm rot="0" flipH="false" flipV="false">
            <a:off x="7112000" y="43688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A4A4A"/>
                </a:solidFill>
                <a:latin typeface="Noto Sans SC"/>
                <a:ea typeface="Noto Sans SC"/>
                <a:cs typeface="Noto Sans SC"/>
                <a:sym typeface="Noto Sans SC"/>
              </a:rPr>
              <a:t>One-Click Deployment</a:t>
            </a:r>
            <a:endParaRPr lang="en-US" sz="1100"/>
          </a:p>
        </p:txBody>
      </p:sp>
      <p:pic>
        <p:nvPicPr>
          <p:cNvPr name="Picture 34" id="34"/>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8737600" y="4813300"/>
            <a:ext cx="355600" cy="355600"/>
          </a:xfrm>
          <a:prstGeom prst="rect">
            <a:avLst/>
          </a:prstGeom>
        </p:spPr>
      </p:pic>
      <p:sp>
        <p:nvSpPr>
          <p:cNvPr name="AutoShape 35" id="35"/>
          <p:cNvSpPr/>
          <p:nvPr/>
        </p:nvSpPr>
        <p:spPr>
          <a:xfrm rot="0" flipH="false" flipV="false">
            <a:off x="6502400" y="5130800"/>
            <a:ext cx="4826000" cy="762000"/>
          </a:xfrm>
          <a:prstGeom prst="roundRect">
            <a:avLst>
              <a:gd name="adj" fmla="val 20000"/>
            </a:avLst>
          </a:prstGeom>
          <a:solidFill>
            <a:srgbClr val="FFF8F8">
              <a:alpha val="100000"/>
            </a:srgbClr>
          </a:solidFill>
          <a:ln w="25400" cmpd="sng" cap="flat">
            <a:solidFill>
              <a:srgbClr val="DB0011">
                <a:alpha val="100000"/>
              </a:srgbClr>
            </a:solidFill>
            <a:prstDash val="solid"/>
            <a:round/>
          </a:ln>
          <a:effectLst>
            <a:outerShdw dir="5400000" dist="127000" blurRad="330200" algn="tl" rotWithShape="false">
              <a:srgbClr val="DB0011">
                <a:alpha val="22000"/>
              </a:srgbClr>
            </a:outerShdw>
          </a:effectLst>
        </p:spPr>
        <p:txBody>
          <a:bodyPr anchor="ctr" rtlCol="false" anchorCtr="false" vert="horz" wrap="square" lIns="0" rIns="0" tIns="0" bIns="0"/>
          <a:lstStyle/>
          <a:p>
            <a:pPr algn="ctr">
              <a:defRPr/>
            </a:pPr>
            <a:endParaRPr/>
          </a:p>
        </p:txBody>
      </p:sp>
      <p:pic>
        <p:nvPicPr>
          <p:cNvPr name="Picture 36" id="36"/>
          <p:cNvPicPr>
            <a:picLocks noChangeAspect="true"/>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0" flipH="false" flipV="false">
            <a:off x="6705600" y="5461000"/>
            <a:ext cx="254000" cy="254000"/>
          </a:xfrm>
          <a:prstGeom prst="rect">
            <a:avLst/>
          </a:prstGeom>
        </p:spPr>
      </p:pic>
      <p:sp>
        <p:nvSpPr>
          <p:cNvPr name="AutoShape 37" id="37"/>
          <p:cNvSpPr/>
          <p:nvPr/>
        </p:nvSpPr>
        <p:spPr>
          <a:xfrm rot="0" flipH="false" flipV="false">
            <a:off x="7112000" y="54356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A4A4A"/>
                </a:solidFill>
                <a:latin typeface="Noto Sans SC"/>
                <a:ea typeface="Noto Sans SC"/>
                <a:cs typeface="Noto Sans SC"/>
                <a:sym typeface="Noto Sans SC"/>
              </a:rPr>
              <a:t>Privileges Granted Instantly</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09600" y="304800"/>
            <a:ext cx="10972800" cy="7112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600">
                <a:solidFill>
                  <a:srgbClr val="333333"/>
                </a:solidFill>
                <a:latin typeface="Poppins"/>
                <a:ea typeface="Poppins"/>
                <a:cs typeface="Poppins"/>
                <a:sym typeface="Poppins"/>
              </a:rPr>
              <a:t>How It Works: Scenario 2 - Achieving Data-Level Permission Control</a:t>
            </a:r>
            <a:endParaRPr lang="en-US" sz="1100"/>
          </a:p>
        </p:txBody>
      </p:sp>
      <p:cxnSp>
        <p:nvCxnSpPr>
          <p:cNvPr name="Connector 3" id="3"/>
          <p:cNvCxnSpPr/>
          <p:nvPr/>
        </p:nvCxnSpPr>
        <p:spPr>
          <a:xfrm rot="-3978" flipH="false" flipV="false">
            <a:off x="609604" y="1162050"/>
            <a:ext cx="10972807"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4" id="4"/>
          <p:cNvSpPr/>
          <p:nvPr/>
        </p:nvSpPr>
        <p:spPr>
          <a:xfrm rot="0" flipH="false" flipV="false">
            <a:off x="609600" y="13208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329"/>
                </a:solidFill>
                <a:latin typeface="Noto Sans SC"/>
                <a:ea typeface="Noto Sans SC"/>
                <a:cs typeface="Noto Sans SC"/>
                <a:sym typeface="Noto Sans SC"/>
              </a:rPr>
              <a:t>Before (Impossible or Hardcoded)</a:t>
            </a:r>
            <a:endParaRPr lang="en-US" sz="1100"/>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09600" y="1930400"/>
            <a:ext cx="254000" cy="254000"/>
          </a:xfrm>
          <a:prstGeom prst="rect">
            <a:avLst/>
          </a:prstGeom>
        </p:spPr>
      </p:pic>
      <p:sp>
        <p:nvSpPr>
          <p:cNvPr name="AutoShape 6" id="6"/>
          <p:cNvSpPr/>
          <p:nvPr/>
        </p:nvSpPr>
        <p:spPr>
          <a:xfrm rot="0" flipH="false" flipV="false">
            <a:off x="1016000" y="18796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A4A4A"/>
                </a:solidFill>
                <a:latin typeface="Noto Sans SC"/>
                <a:ea typeface="Noto Sans SC"/>
                <a:cs typeface="Noto Sans SC"/>
                <a:sym typeface="Noto Sans SC"/>
              </a:rPr>
              <a:t>Either not feasible</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09600" y="2387600"/>
            <a:ext cx="254000" cy="254000"/>
          </a:xfrm>
          <a:prstGeom prst="rect">
            <a:avLst/>
          </a:prstGeom>
        </p:spPr>
      </p:pic>
      <p:sp>
        <p:nvSpPr>
          <p:cNvPr name="AutoShape 8" id="8"/>
          <p:cNvSpPr/>
          <p:nvPr/>
        </p:nvSpPr>
        <p:spPr>
          <a:xfrm rot="0" flipH="false" flipV="false">
            <a:off x="1016000" y="23368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A4A4A"/>
                </a:solidFill>
                <a:latin typeface="Noto Sans SC"/>
                <a:ea typeface="Noto Sans SC"/>
                <a:cs typeface="Noto Sans SC"/>
                <a:sym typeface="Noto Sans SC"/>
              </a:rPr>
              <a:t>Or required hardcoding logic in each application</a:t>
            </a:r>
            <a:endParaRPr lang="en-US" sz="1100"/>
          </a:p>
        </p:txBody>
      </p:sp>
      <p:cxnSp>
        <p:nvCxnSpPr>
          <p:cNvPr name="Connector 9" id="9"/>
          <p:cNvCxnSpPr/>
          <p:nvPr/>
        </p:nvCxnSpPr>
        <p:spPr>
          <a:xfrm rot="5374723" flipH="false" flipV="false">
            <a:off x="5232377" y="2432097"/>
            <a:ext cx="1727247" cy="12700"/>
          </a:xfrm>
          <a:prstGeom prst="straightConnector1">
            <a:avLst/>
          </a:prstGeom>
          <a:solidFill>
            <a:srgbClr val="DEE0E3">
              <a:alpha val="100000"/>
            </a:srgbClr>
          </a:solidFill>
          <a:ln w="12700" cmpd="sng" cap="flat">
            <a:solidFill>
              <a:srgbClr val="000000">
                <a:alpha val="10000"/>
              </a:srgbClr>
            </a:solidFill>
            <a:prstDash val="dash"/>
            <a:round/>
            <a:headEnd type="none" w="med" len="med"/>
            <a:tailEnd type="none" w="med" len="med"/>
          </a:ln>
        </p:spPr>
      </p:cxnSp>
      <p:sp>
        <p:nvSpPr>
          <p:cNvPr name="AutoShape 10" id="10"/>
          <p:cNvSpPr/>
          <p:nvPr/>
        </p:nvSpPr>
        <p:spPr>
          <a:xfrm rot="0" flipH="false" flipV="false">
            <a:off x="6502400" y="13208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329"/>
                </a:solidFill>
                <a:latin typeface="Noto Sans SC"/>
                <a:ea typeface="Noto Sans SC"/>
                <a:cs typeface="Noto Sans SC"/>
                <a:sym typeface="Noto Sans SC"/>
              </a:rPr>
              <a:t>After (Configurable)</a:t>
            </a:r>
            <a:endParaRPr lang="en-US" sz="1100"/>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02400" y="1930400"/>
            <a:ext cx="254000" cy="254000"/>
          </a:xfrm>
          <a:prstGeom prst="rect">
            <a:avLst/>
          </a:prstGeom>
        </p:spPr>
      </p:pic>
      <p:sp>
        <p:nvSpPr>
          <p:cNvPr name="AutoShape 12" id="12"/>
          <p:cNvSpPr/>
          <p:nvPr/>
        </p:nvSpPr>
        <p:spPr>
          <a:xfrm rot="0" flipH="false" flipV="false">
            <a:off x="6908800" y="18796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A4A4A"/>
                </a:solidFill>
                <a:latin typeface="Noto Sans SC"/>
                <a:ea typeface="Noto Sans SC"/>
                <a:cs typeface="Noto Sans SC"/>
                <a:sym typeface="Noto Sans SC"/>
              </a:rPr>
              <a:t>Pod admin configures a policy in the "Rule Library"</a:t>
            </a:r>
            <a:endParaRPr lang="en-US" sz="1100"/>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02400" y="2590800"/>
            <a:ext cx="254000" cy="254000"/>
          </a:xfrm>
          <a:prstGeom prst="rect">
            <a:avLst/>
          </a:prstGeom>
        </p:spPr>
      </p:pic>
      <p:sp>
        <p:nvSpPr>
          <p:cNvPr name="AutoShape 14" id="14"/>
          <p:cNvSpPr/>
          <p:nvPr/>
        </p:nvSpPr>
        <p:spPr>
          <a:xfrm rot="0" flipH="false" flipV="false">
            <a:off x="6908800" y="2540000"/>
            <a:ext cx="533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A4A4A"/>
                </a:solidFill>
                <a:latin typeface="Noto Sans SC"/>
                <a:ea typeface="Noto Sans SC"/>
                <a:cs typeface="Noto Sans SC"/>
                <a:sym typeface="Noto Sans SC"/>
              </a:rPr>
              <a:t>Example rule: `User "Region" attribute == Data "Region" attribute`</a:t>
            </a:r>
            <a:endParaRPr lang="en-US" sz="1100"/>
          </a:p>
        </p:txBody>
      </p:sp>
      <p:sp>
        <p:nvSpPr>
          <p:cNvPr name="AutoShape 15" id="15"/>
          <p:cNvSpPr/>
          <p:nvPr/>
        </p:nvSpPr>
        <p:spPr>
          <a:xfrm rot="0" flipH="false" flipV="false">
            <a:off x="609600" y="3403600"/>
            <a:ext cx="10972800" cy="2235200"/>
          </a:xfrm>
          <a:prstGeom prst="roundRect">
            <a:avLst>
              <a:gd name="adj" fmla="val 9090"/>
            </a:avLst>
          </a:prstGeom>
          <a:solidFill>
            <a:srgbClr val="FFFFFF">
              <a:alpha val="100000"/>
            </a:srgbClr>
          </a:solidFill>
          <a:ln w="12700" cmpd="sng" cap="flat">
            <a:solidFill>
              <a:srgbClr val="E5E7EB">
                <a:alpha val="100000"/>
              </a:srgbClr>
            </a:solidFill>
            <a:prstDash val="solid"/>
            <a:round/>
          </a:ln>
          <a:effectLst>
            <a:outerShdw dir="5400000" dist="203200" blurRad="381000" algn="tl" rotWithShape="false">
              <a:srgbClr val="000000">
                <a:alpha val="12000"/>
              </a:srgbClr>
            </a:outerShdw>
          </a:effectLst>
        </p:spPr>
        <p:txBody>
          <a:bodyPr anchor="ctr" rtlCol="false" anchorCtr="false" vert="horz" wrap="square" lIns="0" rIns="0" tIns="0" bIns="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14400" y="3708400"/>
            <a:ext cx="279400" cy="279400"/>
          </a:xfrm>
          <a:prstGeom prst="rect">
            <a:avLst/>
          </a:prstGeom>
        </p:spPr>
      </p:pic>
      <p:sp>
        <p:nvSpPr>
          <p:cNvPr name="AutoShape 17" id="17"/>
          <p:cNvSpPr/>
          <p:nvPr/>
        </p:nvSpPr>
        <p:spPr>
          <a:xfrm rot="0" flipH="false" flipV="false">
            <a:off x="1320800" y="3670300"/>
            <a:ext cx="5334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11827"/>
                </a:solidFill>
                <a:latin typeface="Noto Sans SC"/>
                <a:ea typeface="Noto Sans SC"/>
                <a:cs typeface="Noto Sans SC"/>
                <a:sym typeface="Noto Sans SC"/>
              </a:rPr>
              <a:t>Policy Configuration Interface (Example)</a:t>
            </a:r>
            <a:endParaRPr lang="en-US" sz="1100"/>
          </a:p>
        </p:txBody>
      </p:sp>
      <p:cxnSp>
        <p:nvCxnSpPr>
          <p:cNvPr name="Connector 18" id="18"/>
          <p:cNvCxnSpPr/>
          <p:nvPr/>
        </p:nvCxnSpPr>
        <p:spPr>
          <a:xfrm rot="-4212" flipH="false" flipV="false">
            <a:off x="914404" y="4260850"/>
            <a:ext cx="10363208"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9" id="19"/>
          <p:cNvSpPr/>
          <p:nvPr/>
        </p:nvSpPr>
        <p:spPr>
          <a:xfrm rot="0" flipH="false" flipV="false">
            <a:off x="1320800" y="44958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User Attribute:</a:t>
            </a:r>
            <a:endParaRPr lang="en-US" sz="1100"/>
          </a:p>
        </p:txBody>
      </p:sp>
      <p:sp>
        <p:nvSpPr>
          <p:cNvPr name="AutoShape 20" id="20"/>
          <p:cNvSpPr/>
          <p:nvPr/>
        </p:nvSpPr>
        <p:spPr>
          <a:xfrm rot="0" flipH="false" flipV="false">
            <a:off x="2946400" y="4419600"/>
            <a:ext cx="2540000" cy="431800"/>
          </a:xfrm>
          <a:prstGeom prst="roundRect">
            <a:avLst>
              <a:gd name="adj" fmla="val 29411"/>
            </a:avLst>
          </a:prstGeom>
          <a:solidFill>
            <a:srgbClr val="FFFFFF">
              <a:alpha val="100000"/>
            </a:srgbClr>
          </a:solidFill>
          <a:ln w="12700" cmpd="sng" cap="flat">
            <a:solidFill>
              <a:srgbClr val="D1D5DB">
                <a:alpha val="100000"/>
              </a:srgbClr>
            </a:solidFill>
            <a:prstDash val="solid"/>
            <a:round/>
          </a:ln>
          <a:effectLst>
            <a:outerShdw dir="5400000" dist="76200" blurRad="228600" algn="tl" rotWithShape="false">
              <a:srgbClr val="000000">
                <a:alpha val="6000"/>
              </a:srgbClr>
            </a:outerShdw>
          </a:effectLst>
        </p:spPr>
        <p:txBody>
          <a:bodyPr anchor="ctr" rtlCol="false" anchorCtr="false" vert="horz" wrap="square" lIns="0" rIns="0" tIns="0" bIns="0"/>
          <a:lstStyle/>
          <a:p>
            <a:pPr algn="ctr" indent="0">
              <a:lnSpc>
                <a:spcPct val="125000"/>
              </a:lnSpc>
              <a:defRPr/>
            </a:pPr>
            <a:r>
              <a:rPr lang="en-US" b="false" i="false" strike="noStrike" u="none" sz="1300">
                <a:solidFill>
                  <a:srgbClr val="374151"/>
                </a:solidFill>
                <a:latin typeface="Noto Sans SC"/>
                <a:ea typeface="Noto Sans SC"/>
                <a:cs typeface="Noto Sans SC"/>
                <a:sym typeface="Noto Sans SC"/>
              </a:rPr>
              <a:t>Region</a:t>
            </a:r>
            <a:endParaRPr lang="en-US" sz="1100"/>
          </a:p>
        </p:txBody>
      </p:sp>
      <p:sp>
        <p:nvSpPr>
          <p:cNvPr name="AutoShape 21" id="21"/>
          <p:cNvSpPr/>
          <p:nvPr/>
        </p:nvSpPr>
        <p:spPr>
          <a:xfrm rot="0" flipH="false" flipV="false">
            <a:off x="5791200" y="44958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Operator:</a:t>
            </a:r>
            <a:endParaRPr lang="en-US" sz="1100"/>
          </a:p>
        </p:txBody>
      </p:sp>
      <p:sp>
        <p:nvSpPr>
          <p:cNvPr name="AutoShape 22" id="22"/>
          <p:cNvSpPr/>
          <p:nvPr/>
        </p:nvSpPr>
        <p:spPr>
          <a:xfrm rot="0" flipH="false" flipV="false">
            <a:off x="7112000" y="4419600"/>
            <a:ext cx="2032000" cy="431800"/>
          </a:xfrm>
          <a:prstGeom prst="roundRect">
            <a:avLst>
              <a:gd name="adj" fmla="val 29411"/>
            </a:avLst>
          </a:prstGeom>
          <a:solidFill>
            <a:srgbClr val="FFFFFF">
              <a:alpha val="100000"/>
            </a:srgbClr>
          </a:solidFill>
          <a:ln w="12700" cmpd="sng" cap="flat">
            <a:solidFill>
              <a:srgbClr val="D1D5DB">
                <a:alpha val="100000"/>
              </a:srgbClr>
            </a:solidFill>
            <a:prstDash val="solid"/>
            <a:round/>
          </a:ln>
          <a:effectLst>
            <a:outerShdw dir="5400000" dist="76200" blurRad="228600" algn="tl" rotWithShape="false">
              <a:srgbClr val="000000">
                <a:alpha val="6000"/>
              </a:srgbClr>
            </a:outerShdw>
          </a:effectLst>
        </p:spPr>
        <p:txBody>
          <a:bodyPr anchor="ctr" rtlCol="false" anchorCtr="false" vert="horz" wrap="square" lIns="0" rIns="0" tIns="0" bIns="0"/>
          <a:lstStyle/>
          <a:p>
            <a:pPr algn="ctr" indent="0">
              <a:lnSpc>
                <a:spcPct val="125000"/>
              </a:lnSpc>
              <a:defRPr/>
            </a:pPr>
            <a:r>
              <a:rPr lang="en-US" b="false" i="false" strike="noStrike" u="none" sz="1300">
                <a:solidFill>
                  <a:srgbClr val="374151"/>
                </a:solidFill>
                <a:latin typeface="Noto Sans SC"/>
                <a:ea typeface="Noto Sans SC"/>
                <a:cs typeface="Noto Sans SC"/>
                <a:sym typeface="Noto Sans SC"/>
              </a:rPr>
              <a:t>Equals (==)</a:t>
            </a:r>
            <a:endParaRPr lang="en-US" sz="1100"/>
          </a:p>
        </p:txBody>
      </p:sp>
      <p:sp>
        <p:nvSpPr>
          <p:cNvPr name="AutoShape 23" id="23"/>
          <p:cNvSpPr/>
          <p:nvPr/>
        </p:nvSpPr>
        <p:spPr>
          <a:xfrm rot="0" flipH="false" flipV="false">
            <a:off x="1320800" y="5054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Data Attribute:</a:t>
            </a:r>
            <a:endParaRPr lang="en-US" sz="1100"/>
          </a:p>
        </p:txBody>
      </p:sp>
      <p:sp>
        <p:nvSpPr>
          <p:cNvPr name="AutoShape 24" id="24"/>
          <p:cNvSpPr/>
          <p:nvPr/>
        </p:nvSpPr>
        <p:spPr>
          <a:xfrm rot="0" flipH="false" flipV="false">
            <a:off x="2946400" y="4978400"/>
            <a:ext cx="2540000" cy="431800"/>
          </a:xfrm>
          <a:prstGeom prst="roundRect">
            <a:avLst>
              <a:gd name="adj" fmla="val 29411"/>
            </a:avLst>
          </a:prstGeom>
          <a:solidFill>
            <a:srgbClr val="FFFFFF">
              <a:alpha val="100000"/>
            </a:srgbClr>
          </a:solidFill>
          <a:ln w="12700" cmpd="sng" cap="flat">
            <a:solidFill>
              <a:srgbClr val="D1D5DB">
                <a:alpha val="100000"/>
              </a:srgbClr>
            </a:solidFill>
            <a:prstDash val="solid"/>
            <a:round/>
          </a:ln>
          <a:effectLst>
            <a:outerShdw dir="5400000" dist="76200" blurRad="228600" algn="tl" rotWithShape="false">
              <a:srgbClr val="000000">
                <a:alpha val="6000"/>
              </a:srgbClr>
            </a:outerShdw>
          </a:effectLst>
        </p:spPr>
        <p:txBody>
          <a:bodyPr anchor="ctr" rtlCol="false" anchorCtr="false" vert="horz" wrap="square" lIns="0" rIns="0" tIns="0" bIns="0"/>
          <a:lstStyle/>
          <a:p>
            <a:pPr algn="ctr" indent="0">
              <a:lnSpc>
                <a:spcPct val="125000"/>
              </a:lnSpc>
              <a:defRPr/>
            </a:pPr>
            <a:r>
              <a:rPr lang="en-US" b="false" i="false" strike="noStrike" u="none" sz="1300">
                <a:solidFill>
                  <a:srgbClr val="374151"/>
                </a:solidFill>
                <a:latin typeface="Noto Sans SC"/>
                <a:ea typeface="Noto Sans SC"/>
                <a:cs typeface="Noto Sans SC"/>
                <a:sym typeface="Noto Sans SC"/>
              </a:rPr>
              <a:t>Region</a:t>
            </a:r>
            <a:endParaRPr lang="en-US" sz="1100"/>
          </a:p>
        </p:txBody>
      </p:sp>
      <p:sp>
        <p:nvSpPr>
          <p:cNvPr name="AutoShape 25" id="25"/>
          <p:cNvSpPr/>
          <p:nvPr/>
        </p:nvSpPr>
        <p:spPr>
          <a:xfrm rot="0" flipH="false" flipV="false">
            <a:off x="9652000" y="4953000"/>
            <a:ext cx="1778000" cy="457200"/>
          </a:xfrm>
          <a:prstGeom prst="roundRect">
            <a:avLst>
              <a:gd name="adj" fmla="val 50000"/>
            </a:avLst>
          </a:prstGeom>
          <a:solidFill>
            <a:srgbClr val="DB0011">
              <a:alpha val="100000"/>
            </a:srgbClr>
          </a:solidFill>
          <a:ln w="12700" cmpd="sng" cap="flat">
            <a:solidFill>
              <a:srgbClr val="BE000F">
                <a:alpha val="100000"/>
              </a:srgbClr>
            </a:solidFill>
            <a:prstDash val="solid"/>
            <a:round/>
          </a:ln>
          <a:effectLst>
            <a:outerShdw dir="5400000" dist="101600" blurRad="279400" algn="tl" rotWithShape="false">
              <a:srgbClr val="DB0011">
                <a:alpha val="28000"/>
              </a:srgbClr>
            </a:outerShdw>
          </a:effectLst>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Save Rule</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09600" y="381000"/>
            <a:ext cx="109728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1F2329"/>
                </a:solidFill>
                <a:latin typeface="Poppins"/>
                <a:ea typeface="Poppins"/>
                <a:cs typeface="Poppins"/>
                <a:sym typeface="Poppins"/>
              </a:rPr>
              <a:t>Core Advantages &amp; Differentiation</a:t>
            </a:r>
            <a:endParaRPr lang="en-US" sz="1100"/>
          </a:p>
        </p:txBody>
      </p:sp>
      <p:cxnSp>
        <p:nvCxnSpPr>
          <p:cNvPr name="Connector 3" id="3"/>
          <p:cNvCxnSpPr/>
          <p:nvPr/>
        </p:nvCxnSpPr>
        <p:spPr>
          <a:xfrm rot="-3978" flipH="false" flipV="false">
            <a:off x="609604" y="1289050"/>
            <a:ext cx="10972800" cy="12700"/>
          </a:xfrm>
          <a:prstGeom prst="straightConnector1">
            <a:avLst/>
          </a:prstGeom>
          <a:solidFill>
            <a:srgbClr val="DEE0E3">
              <a:alpha val="100000"/>
            </a:srgbClr>
          </a:solidFill>
          <a:ln w="25400" cmpd="sng" cap="flat">
            <a:solidFill>
              <a:srgbClr val="B22234">
                <a:alpha val="100000"/>
              </a:srgbClr>
            </a:solidFill>
            <a:prstDash val="solid"/>
            <a:round/>
            <a:headEnd type="none" w="lg" len="lg"/>
            <a:tailEnd type="none" w="lg" len="lg"/>
          </a:ln>
        </p:spPr>
      </p:cxnSp>
      <p:sp>
        <p:nvSpPr>
          <p:cNvPr name="AutoShape 4" id="4"/>
          <p:cNvSpPr/>
          <p:nvPr/>
        </p:nvSpPr>
        <p:spPr>
          <a:xfrm rot="0" flipH="false" flipV="false">
            <a:off x="609600" y="1778000"/>
            <a:ext cx="2552700" cy="2794000"/>
          </a:xfrm>
          <a:prstGeom prst="roundRect">
            <a:avLst>
              <a:gd name="adj" fmla="val 7960"/>
            </a:avLst>
          </a:prstGeom>
          <a:solidFill>
            <a:srgbClr val="FFFFFF">
              <a:alpha val="100000"/>
            </a:srgbClr>
          </a:solidFill>
          <a:ln w="12700" cmpd="sng" cap="flat">
            <a:solidFill>
              <a:srgbClr val="E5E7EB">
                <a:alpha val="100000"/>
              </a:srgbClr>
            </a:solidFill>
            <a:prstDash val="solid"/>
            <a:round/>
          </a:ln>
          <a:effectLst>
            <a:outerShdw dir="5400000" dist="228600" blurRad="4064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473200" y="2032000"/>
            <a:ext cx="812800" cy="812800"/>
          </a:xfrm>
          <a:prstGeom prst="rect">
            <a:avLst/>
          </a:prstGeom>
          <a:effectLst>
            <a:outerShdw dir="5400000" dist="203200" blurRad="355600" algn="tl" rotWithShape="false">
              <a:srgbClr val="000000">
                <a:alpha val="12000"/>
              </a:srgbClr>
            </a:outerShdw>
          </a:effectLst>
        </p:spPr>
      </p:pic>
      <p:sp>
        <p:nvSpPr>
          <p:cNvPr name="AutoShape 6" id="6"/>
          <p:cNvSpPr/>
          <p:nvPr/>
        </p:nvSpPr>
        <p:spPr>
          <a:xfrm rot="0" flipH="false" flipV="false">
            <a:off x="762000" y="3098800"/>
            <a:ext cx="2286000" cy="558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Apex-Wide Applicability</a:t>
            </a:r>
            <a:endParaRPr lang="en-US" sz="1100"/>
          </a:p>
        </p:txBody>
      </p:sp>
      <p:sp>
        <p:nvSpPr>
          <p:cNvPr name="AutoShape 7" id="7"/>
          <p:cNvSpPr/>
          <p:nvPr/>
        </p:nvSpPr>
        <p:spPr>
          <a:xfrm rot="0" flipH="false" flipV="false">
            <a:off x="-12700000" y="-12700000"/>
            <a:ext cx="12700" cy="12700"/>
          </a:xfrm>
          <a:prstGeom prst="rect">
            <a:avLst/>
          </a:prstGeom>
          <a:noFill/>
          <a:ln w="12700" cmpd="sng" cap="flat">
            <a:noFill/>
            <a:prstDash val="solid"/>
            <a:round/>
          </a:ln>
        </p:spPr>
        <p:txBody>
          <a:bodyPr anchor="ctr" rtlCol="false" anchorCtr="false" vert="horz" wrap="square" lIns="0" rIns="0" tIns="0" bIns="0"/>
          <a:lstStyle/>
          <a:p>
            <a:pPr algn="l">
              <a:defRPr/>
            </a:pPr>
            <a:endParaRPr/>
          </a:p>
        </p:txBody>
      </p:sp>
      <p:sp>
        <p:nvSpPr>
          <p:cNvPr name="AutoShape 8" id="8"/>
          <p:cNvSpPr/>
          <p:nvPr/>
        </p:nvSpPr>
        <p:spPr>
          <a:xfrm rot="0" flipH="false" flipV="false">
            <a:off x="3416300" y="1778000"/>
            <a:ext cx="2552700" cy="2794000"/>
          </a:xfrm>
          <a:prstGeom prst="roundRect">
            <a:avLst>
              <a:gd name="adj" fmla="val 7960"/>
            </a:avLst>
          </a:prstGeom>
          <a:solidFill>
            <a:srgbClr val="FFFFFF">
              <a:alpha val="100000"/>
            </a:srgbClr>
          </a:solidFill>
          <a:ln w="12700" cmpd="sng" cap="flat">
            <a:solidFill>
              <a:srgbClr val="E5E7EB">
                <a:alpha val="100000"/>
              </a:srgbClr>
            </a:solidFill>
            <a:prstDash val="solid"/>
            <a:round/>
          </a:ln>
          <a:effectLst>
            <a:outerShdw dir="5400000" dist="228600" blurRad="4064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279900" y="2032000"/>
            <a:ext cx="812800" cy="812800"/>
          </a:xfrm>
          <a:prstGeom prst="rect">
            <a:avLst/>
          </a:prstGeom>
          <a:effectLst>
            <a:outerShdw dir="5400000" dist="203200" blurRad="355600" algn="tl" rotWithShape="false">
              <a:srgbClr val="000000">
                <a:alpha val="12000"/>
              </a:srgbClr>
            </a:outerShdw>
          </a:effectLst>
        </p:spPr>
      </p:pic>
      <p:sp>
        <p:nvSpPr>
          <p:cNvPr name="AutoShape 10" id="10"/>
          <p:cNvSpPr/>
          <p:nvPr/>
        </p:nvSpPr>
        <p:spPr>
          <a:xfrm rot="0" flipH="false" flipV="false">
            <a:off x="3568700" y="3098800"/>
            <a:ext cx="2286000" cy="558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Ultimate Granularity</a:t>
            </a:r>
            <a:endParaRPr lang="en-US" sz="1100"/>
          </a:p>
        </p:txBody>
      </p:sp>
      <p:sp>
        <p:nvSpPr>
          <p:cNvPr name="AutoShape 11" id="11"/>
          <p:cNvSpPr/>
          <p:nvPr/>
        </p:nvSpPr>
        <p:spPr>
          <a:xfrm rot="0" flipH="false" flipV="false">
            <a:off x="-12700000" y="-12700000"/>
            <a:ext cx="12700" cy="12700"/>
          </a:xfrm>
          <a:prstGeom prst="rect">
            <a:avLst/>
          </a:prstGeom>
          <a:noFill/>
          <a:ln w="12700" cmpd="sng" cap="flat">
            <a:noFill/>
            <a:prstDash val="solid"/>
            <a:round/>
          </a:ln>
        </p:spPr>
        <p:txBody>
          <a:bodyPr anchor="ctr" rtlCol="false" anchorCtr="false" vert="horz" wrap="square" lIns="0" rIns="0" tIns="0" bIns="0"/>
          <a:lstStyle/>
          <a:p>
            <a:pPr algn="l">
              <a:defRPr/>
            </a:pPr>
            <a:endParaRPr/>
          </a:p>
        </p:txBody>
      </p:sp>
      <p:sp>
        <p:nvSpPr>
          <p:cNvPr name="AutoShape 12" id="12"/>
          <p:cNvSpPr/>
          <p:nvPr/>
        </p:nvSpPr>
        <p:spPr>
          <a:xfrm rot="0" flipH="false" flipV="false">
            <a:off x="6223000" y="1778000"/>
            <a:ext cx="2552700" cy="2794000"/>
          </a:xfrm>
          <a:prstGeom prst="roundRect">
            <a:avLst>
              <a:gd name="adj" fmla="val 7960"/>
            </a:avLst>
          </a:prstGeom>
          <a:solidFill>
            <a:srgbClr val="FFFFFF">
              <a:alpha val="100000"/>
            </a:srgbClr>
          </a:solidFill>
          <a:ln w="12700" cmpd="sng" cap="flat">
            <a:solidFill>
              <a:srgbClr val="E5E7EB">
                <a:alpha val="100000"/>
              </a:srgbClr>
            </a:solidFill>
            <a:prstDash val="solid"/>
            <a:round/>
          </a:ln>
          <a:effectLst>
            <a:outerShdw dir="5400000" dist="228600" blurRad="4064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086600" y="2032000"/>
            <a:ext cx="812800" cy="812800"/>
          </a:xfrm>
          <a:prstGeom prst="rect">
            <a:avLst/>
          </a:prstGeom>
          <a:effectLst>
            <a:outerShdw dir="5400000" dist="203200" blurRad="355600" algn="tl" rotWithShape="false">
              <a:srgbClr val="000000">
                <a:alpha val="12000"/>
              </a:srgbClr>
            </a:outerShdw>
          </a:effectLst>
        </p:spPr>
      </p:pic>
      <p:sp>
        <p:nvSpPr>
          <p:cNvPr name="AutoShape 14" id="14"/>
          <p:cNvSpPr/>
          <p:nvPr/>
        </p:nvSpPr>
        <p:spPr>
          <a:xfrm rot="0" flipH="false" flipV="false">
            <a:off x="6375400" y="3098800"/>
            <a:ext cx="2286000" cy="558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Balanced Empowerment</a:t>
            </a:r>
            <a:endParaRPr lang="en-US" sz="1100"/>
          </a:p>
        </p:txBody>
      </p:sp>
      <p:sp>
        <p:nvSpPr>
          <p:cNvPr name="AutoShape 15" id="15"/>
          <p:cNvSpPr/>
          <p:nvPr/>
        </p:nvSpPr>
        <p:spPr>
          <a:xfrm rot="0" flipH="false" flipV="false">
            <a:off x="-12700000" y="-12700000"/>
            <a:ext cx="12700" cy="12700"/>
          </a:xfrm>
          <a:prstGeom prst="rect">
            <a:avLst/>
          </a:prstGeom>
          <a:noFill/>
          <a:ln w="12700" cmpd="sng" cap="flat">
            <a:noFill/>
            <a:prstDash val="solid"/>
            <a:round/>
          </a:ln>
        </p:spPr>
        <p:txBody>
          <a:bodyPr anchor="ctr" rtlCol="false" anchorCtr="false" vert="horz" wrap="square" lIns="0" rIns="0" tIns="0" bIns="0"/>
          <a:lstStyle/>
          <a:p>
            <a:pPr algn="l">
              <a:defRPr/>
            </a:pPr>
            <a:endParaRPr/>
          </a:p>
        </p:txBody>
      </p:sp>
      <p:sp>
        <p:nvSpPr>
          <p:cNvPr name="AutoShape 16" id="16"/>
          <p:cNvSpPr/>
          <p:nvPr/>
        </p:nvSpPr>
        <p:spPr>
          <a:xfrm rot="0" flipH="false" flipV="false">
            <a:off x="9029700" y="1778000"/>
            <a:ext cx="2552700" cy="2794000"/>
          </a:xfrm>
          <a:prstGeom prst="roundRect">
            <a:avLst>
              <a:gd name="adj" fmla="val 7960"/>
            </a:avLst>
          </a:prstGeom>
          <a:solidFill>
            <a:srgbClr val="FFFFFF">
              <a:alpha val="100000"/>
            </a:srgbClr>
          </a:solidFill>
          <a:ln w="12700" cmpd="sng" cap="flat">
            <a:solidFill>
              <a:srgbClr val="E5E7EB">
                <a:alpha val="100000"/>
              </a:srgbClr>
            </a:solidFill>
            <a:prstDash val="solid"/>
            <a:round/>
          </a:ln>
          <a:effectLst>
            <a:outerShdw dir="5400000" dist="228600" blurRad="406400" algn="tl" rotWithShape="false">
              <a:srgbClr val="000000">
                <a:alpha val="8000"/>
              </a:srgbClr>
            </a:outerShdw>
          </a:effectLst>
        </p:spPr>
        <p:txBody>
          <a:bodyPr anchor="ctr" rtlCol="false" anchorCtr="false" vert="horz" wrap="square" lIns="0" rIns="0" tIns="0" bIns="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893300" y="2032000"/>
            <a:ext cx="812800" cy="812800"/>
          </a:xfrm>
          <a:prstGeom prst="rect">
            <a:avLst/>
          </a:prstGeom>
          <a:effectLst>
            <a:outerShdw dir="5400000" dist="203200" blurRad="355600" algn="tl" rotWithShape="false">
              <a:srgbClr val="000000">
                <a:alpha val="12000"/>
              </a:srgbClr>
            </a:outerShdw>
          </a:effectLst>
        </p:spPr>
      </p:pic>
      <p:sp>
        <p:nvSpPr>
          <p:cNvPr name="AutoShape 18" id="18"/>
          <p:cNvSpPr/>
          <p:nvPr/>
        </p:nvSpPr>
        <p:spPr>
          <a:xfrm rot="0" flipH="false" flipV="false">
            <a:off x="9182100" y="3098800"/>
            <a:ext cx="2286000" cy="558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Future-Ready</a:t>
            </a:r>
            <a:endParaRPr lang="en-US" sz="1100"/>
          </a:p>
        </p:txBody>
      </p:sp>
      <p:sp>
        <p:nvSpPr>
          <p:cNvPr name="AutoShape 19" id="19"/>
          <p:cNvSpPr/>
          <p:nvPr/>
        </p:nvSpPr>
        <p:spPr>
          <a:xfrm rot="0" flipH="false" flipV="false">
            <a:off x="-12700000" y="-12700000"/>
            <a:ext cx="12700" cy="12700"/>
          </a:xfrm>
          <a:prstGeom prst="rect">
            <a:avLst/>
          </a:prstGeom>
          <a:noFill/>
          <a:ln w="12700" cmpd="sng" cap="flat">
            <a:noFill/>
            <a:prstDash val="solid"/>
            <a:round/>
          </a:ln>
        </p:spPr>
        <p:txBody>
          <a:bodyPr anchor="ctr" rtlCol="false" anchorCtr="false" vert="horz" wrap="square" lIns="0" rIns="0" tIns="0" bIns="0"/>
          <a:lstStyle/>
          <a:p>
            <a:pPr algn="l">
              <a:defRPr/>
            </a:pPr>
            <a:endParaRPr/>
          </a:p>
        </p:txBody>
      </p:sp>
      <p:cxnSp>
        <p:nvCxnSpPr>
          <p:cNvPr name="Connector 20" id="20"/>
          <p:cNvCxnSpPr/>
          <p:nvPr/>
        </p:nvCxnSpPr>
        <p:spPr>
          <a:xfrm rot="-3978" flipH="false" flipV="false">
            <a:off x="609604" y="5327650"/>
            <a:ext cx="10972800" cy="12700"/>
          </a:xfrm>
          <a:prstGeom prst="straightConnector1">
            <a:avLst/>
          </a:prstGeom>
          <a:solidFill>
            <a:srgbClr val="DEE0E3">
              <a:alpha val="100000"/>
            </a:srgbClr>
          </a:solidFill>
          <a:ln w="12700" cmpd="sng" cap="flat">
            <a:solidFill>
              <a:srgbClr val="CCCCCC">
                <a:alpha val="90000"/>
              </a:srgbClr>
            </a:solidFill>
            <a:prstDash val="dash"/>
            <a:round/>
            <a:headEnd type="none" w="med" len="med"/>
            <a:tailEnd type="none" w="med" len="med"/>
          </a:ln>
        </p:spPr>
      </p:cxn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09600" y="406400"/>
            <a:ext cx="109728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329"/>
                </a:solidFill>
                <a:latin typeface="Poppins"/>
                <a:ea typeface="Poppins"/>
                <a:cs typeface="Poppins"/>
                <a:sym typeface="Poppins"/>
              </a:rPr>
              <a:t>Implementation Roadmap &amp; Next Steps</a:t>
            </a:r>
            <a:endParaRPr lang="en-US" sz="1100"/>
          </a:p>
        </p:txBody>
      </p:sp>
      <p:sp>
        <p:nvSpPr>
          <p:cNvPr name="AutoShape 3" id="3"/>
          <p:cNvSpPr/>
          <p:nvPr/>
        </p:nvSpPr>
        <p:spPr>
          <a:xfrm rot="0" flipH="false" flipV="false">
            <a:off x="762000" y="1524000"/>
            <a:ext cx="3302000" cy="3302000"/>
          </a:xfrm>
          <a:prstGeom prst="ellipse">
            <a:avLst/>
          </a:prstGeom>
          <a:solidFill>
            <a:srgbClr val="FFFFFF">
              <a:alpha val="100000"/>
            </a:srgbClr>
          </a:solidFill>
          <a:ln w="12700" cmpd="sng" cap="flat">
            <a:solidFill>
              <a:srgbClr val="D1D5DB">
                <a:alpha val="100000"/>
              </a:srgbClr>
            </a:solidFill>
            <a:prstDash val="solid"/>
            <a:round/>
          </a:ln>
          <a:effectLst>
            <a:outerShdw dir="5400000" dist="101600" blurRad="228600" algn="tl" rotWithShape="false">
              <a:srgbClr val="000000">
                <a:alpha val="8000"/>
              </a:srgbClr>
            </a:outerShdw>
          </a:effectLst>
        </p:spPr>
        <p:txBody>
          <a:bodyPr anchor="ctr" rtlCol="false" vert="horz" lIns="63500" rIns="63500" tIns="63500" bIns="63500"/>
          <a:lstStyle/>
          <a:p>
            <a:pPr algn="ctr">
              <a:defRPr/>
            </a:pPr>
            <a:endParaRPr/>
          </a:p>
        </p:txBody>
      </p:sp>
      <p:sp>
        <p:nvSpPr>
          <p:cNvPr name="AutoShape 4" id="4"/>
          <p:cNvSpPr/>
          <p:nvPr/>
        </p:nvSpPr>
        <p:spPr>
          <a:xfrm rot="0" flipH="false" flipV="false">
            <a:off x="2159000" y="1778000"/>
            <a:ext cx="508000" cy="508000"/>
          </a:xfrm>
          <a:prstGeom prst="ellipse">
            <a:avLst/>
          </a:prstGeom>
          <a:solidFill>
            <a:srgbClr val="DC2626">
              <a:alpha val="100000"/>
            </a:srgbClr>
          </a:solidFill>
          <a:ln w="25400" cmpd="sng" cap="flat">
            <a:solidFill>
              <a:srgbClr val="FFFFFF">
                <a:alpha val="100000"/>
              </a:srgbClr>
            </a:solidFill>
            <a:prstDash val="solid"/>
            <a:round/>
          </a:ln>
          <a:effectLst>
            <a:outerShdw dir="5400000" dist="76200" blurRad="177800" algn="tl" rotWithShape="false">
              <a:srgbClr val="000000">
                <a:alpha val="12000"/>
              </a:srgbClr>
            </a:outerShdw>
          </a:effectLst>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Poppins"/>
                <a:ea typeface="Poppins"/>
                <a:cs typeface="Poppins"/>
                <a:sym typeface="Poppins"/>
              </a:rPr>
              <a:t>1</a:t>
            </a:r>
            <a:endParaRPr lang="en-US" sz="1100"/>
          </a:p>
        </p:txBody>
      </p:sp>
      <p:sp>
        <p:nvSpPr>
          <p:cNvPr name="AutoShape 5" id="5"/>
          <p:cNvSpPr/>
          <p:nvPr/>
        </p:nvSpPr>
        <p:spPr>
          <a:xfrm rot="0" flipH="false" flipV="false">
            <a:off x="889000" y="2413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Phase 1: Foundation &amp; Pilot</a:t>
            </a:r>
            <a:endParaRPr lang="en-US" sz="1100"/>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41400" y="2971800"/>
            <a:ext cx="228600" cy="228600"/>
          </a:xfrm>
          <a:prstGeom prst="rect">
            <a:avLst/>
          </a:prstGeom>
        </p:spPr>
      </p:pic>
      <p:sp>
        <p:nvSpPr>
          <p:cNvPr name="AutoShape 7" id="7"/>
          <p:cNvSpPr/>
          <p:nvPr/>
        </p:nvSpPr>
        <p:spPr>
          <a:xfrm rot="0" flipH="false" flipV="false">
            <a:off x="914400" y="3276600"/>
            <a:ext cx="1270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555555"/>
                </a:solidFill>
                <a:latin typeface="Roboto"/>
                <a:ea typeface="Roboto"/>
                <a:cs typeface="Roboto"/>
                <a:sym typeface="Roboto"/>
              </a:rPr>
              <a:t>Requirements Gathering</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2438400" y="2971800"/>
            <a:ext cx="228600" cy="228600"/>
          </a:xfrm>
          <a:prstGeom prst="rect">
            <a:avLst/>
          </a:prstGeom>
        </p:spPr>
      </p:pic>
      <p:sp>
        <p:nvSpPr>
          <p:cNvPr name="AutoShape 9" id="9"/>
          <p:cNvSpPr/>
          <p:nvPr/>
        </p:nvSpPr>
        <p:spPr>
          <a:xfrm rot="0" flipH="false" flipV="false">
            <a:off x="2311400" y="3276600"/>
            <a:ext cx="1143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555555"/>
                </a:solidFill>
                <a:latin typeface="Roboto"/>
                <a:ea typeface="Roboto"/>
                <a:cs typeface="Roboto"/>
                <a:sym typeface="Roboto"/>
              </a:rPr>
              <a:t>Platform Build</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739900" y="3657600"/>
            <a:ext cx="228600" cy="228600"/>
          </a:xfrm>
          <a:prstGeom prst="rect">
            <a:avLst/>
          </a:prstGeom>
        </p:spPr>
      </p:pic>
      <p:sp>
        <p:nvSpPr>
          <p:cNvPr name="AutoShape 11" id="11"/>
          <p:cNvSpPr/>
          <p:nvPr/>
        </p:nvSpPr>
        <p:spPr>
          <a:xfrm rot="0" flipH="false" flipV="false">
            <a:off x="1612900" y="3962400"/>
            <a:ext cx="1143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555555"/>
                </a:solidFill>
                <a:latin typeface="Roboto"/>
                <a:ea typeface="Roboto"/>
                <a:cs typeface="Roboto"/>
                <a:sym typeface="Roboto"/>
              </a:rPr>
              <a:t>Key Pod Pilot</a:t>
            </a:r>
            <a:endParaRPr lang="en-US" sz="1100"/>
          </a:p>
        </p:txBody>
      </p:sp>
      <p:sp>
        <p:nvSpPr>
          <p:cNvPr name="AutoShape 12" id="12"/>
          <p:cNvSpPr/>
          <p:nvPr/>
        </p:nvSpPr>
        <p:spPr>
          <a:xfrm rot="0" flipH="false" flipV="false">
            <a:off x="4064000" y="2540000"/>
            <a:ext cx="25400" cy="1270000"/>
          </a:xfrm>
          <a:prstGeom prst="roundRect">
            <a:avLst>
              <a:gd name="adj" fmla="val 0"/>
            </a:avLst>
          </a:prstGeom>
          <a:solidFill>
            <a:srgbClr val="D1D5D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445000" y="1524000"/>
            <a:ext cx="3302000" cy="3302000"/>
          </a:xfrm>
          <a:prstGeom prst="ellipse">
            <a:avLst/>
          </a:prstGeom>
          <a:solidFill>
            <a:srgbClr val="FFFFFF">
              <a:alpha val="100000"/>
            </a:srgbClr>
          </a:solidFill>
          <a:ln w="12700" cmpd="sng" cap="flat">
            <a:solidFill>
              <a:srgbClr val="D1D5DB">
                <a:alpha val="100000"/>
              </a:srgbClr>
            </a:solidFill>
            <a:prstDash val="solid"/>
            <a:round/>
          </a:ln>
          <a:effectLst>
            <a:outerShdw dir="5400000" dist="101600" blurRad="228600" algn="tl" rotWithShape="false">
              <a:srgbClr val="000000">
                <a:alpha val="8000"/>
              </a:srgbClr>
            </a:outerShdw>
          </a:effectLst>
        </p:spPr>
        <p:txBody>
          <a:bodyPr anchor="ctr" rtlCol="false" vert="horz" lIns="63500" rIns="63500" tIns="63500" bIns="63500"/>
          <a:lstStyle/>
          <a:p>
            <a:pPr algn="ctr">
              <a:defRPr/>
            </a:pPr>
            <a:endParaRPr/>
          </a:p>
        </p:txBody>
      </p:sp>
      <p:sp>
        <p:nvSpPr>
          <p:cNvPr name="AutoShape 14" id="14"/>
          <p:cNvSpPr/>
          <p:nvPr/>
        </p:nvSpPr>
        <p:spPr>
          <a:xfrm rot="0" flipH="false" flipV="false">
            <a:off x="5842000" y="1778000"/>
            <a:ext cx="508000" cy="508000"/>
          </a:xfrm>
          <a:prstGeom prst="ellipse">
            <a:avLst/>
          </a:prstGeom>
          <a:solidFill>
            <a:srgbClr val="DC2626">
              <a:alpha val="100000"/>
            </a:srgbClr>
          </a:solidFill>
          <a:ln w="25400" cmpd="sng" cap="flat">
            <a:solidFill>
              <a:srgbClr val="FFFFFF">
                <a:alpha val="100000"/>
              </a:srgbClr>
            </a:solidFill>
            <a:prstDash val="solid"/>
            <a:round/>
          </a:ln>
          <a:effectLst>
            <a:outerShdw dir="5400000" dist="76200" blurRad="177800" algn="tl" rotWithShape="false">
              <a:srgbClr val="000000">
                <a:alpha val="12000"/>
              </a:srgbClr>
            </a:outerShdw>
          </a:effectLst>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Poppins"/>
                <a:ea typeface="Poppins"/>
                <a:cs typeface="Poppins"/>
                <a:sym typeface="Poppins"/>
              </a:rPr>
              <a:t>2</a:t>
            </a:r>
            <a:endParaRPr lang="en-US" sz="1100"/>
          </a:p>
        </p:txBody>
      </p:sp>
      <p:sp>
        <p:nvSpPr>
          <p:cNvPr name="AutoShape 15" id="15"/>
          <p:cNvSpPr/>
          <p:nvPr/>
        </p:nvSpPr>
        <p:spPr>
          <a:xfrm rot="0" flipH="false" flipV="false">
            <a:off x="4572000" y="2413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Phase 2: Full Apex Rollout</a:t>
            </a:r>
            <a:endParaRPr lang="en-US" sz="1100"/>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4724400" y="2971800"/>
            <a:ext cx="228600" cy="228600"/>
          </a:xfrm>
          <a:prstGeom prst="rect">
            <a:avLst/>
          </a:prstGeom>
        </p:spPr>
      </p:pic>
      <p:sp>
        <p:nvSpPr>
          <p:cNvPr name="AutoShape 17" id="17"/>
          <p:cNvSpPr/>
          <p:nvPr/>
        </p:nvSpPr>
        <p:spPr>
          <a:xfrm rot="0" flipH="false" flipV="false">
            <a:off x="4597400" y="3276600"/>
            <a:ext cx="1397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555555"/>
                </a:solidFill>
                <a:latin typeface="Roboto"/>
                <a:ea typeface="Roboto"/>
                <a:cs typeface="Roboto"/>
                <a:sym typeface="Roboto"/>
              </a:rPr>
              <a:t>Playbook Development</a:t>
            </a:r>
            <a:endParaRPr lang="en-US" sz="1100"/>
          </a:p>
        </p:txBody>
      </p:sp>
      <p:pic>
        <p:nvPicPr>
          <p:cNvPr name="Picture 18" id="18"/>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121400" y="2971800"/>
            <a:ext cx="228600" cy="228600"/>
          </a:xfrm>
          <a:prstGeom prst="rect">
            <a:avLst/>
          </a:prstGeom>
        </p:spPr>
      </p:pic>
      <p:sp>
        <p:nvSpPr>
          <p:cNvPr name="AutoShape 19" id="19"/>
          <p:cNvSpPr/>
          <p:nvPr/>
        </p:nvSpPr>
        <p:spPr>
          <a:xfrm rot="0" flipH="false" flipV="false">
            <a:off x="5549900" y="3251200"/>
            <a:ext cx="1905000" cy="4318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555555"/>
                </a:solidFill>
                <a:latin typeface="Roboto"/>
                <a:ea typeface="Roboto"/>
                <a:cs typeface="Roboto"/>
                <a:sym typeface="Roboto"/>
              </a:rPr>
              <a:t>Phased Rollout Across All Apex Use Cases</a:t>
            </a:r>
            <a:endParaRPr lang="en-US" sz="1100"/>
          </a:p>
        </p:txBody>
      </p:sp>
      <p:pic>
        <p:nvPicPr>
          <p:cNvPr name="Picture 20" id="20"/>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5422900" y="3886200"/>
            <a:ext cx="228600" cy="228600"/>
          </a:xfrm>
          <a:prstGeom prst="rect">
            <a:avLst/>
          </a:prstGeom>
        </p:spPr>
      </p:pic>
      <p:sp>
        <p:nvSpPr>
          <p:cNvPr name="AutoShape 21" id="21"/>
          <p:cNvSpPr/>
          <p:nvPr/>
        </p:nvSpPr>
        <p:spPr>
          <a:xfrm rot="0" flipH="false" flipV="false">
            <a:off x="5295900" y="4191000"/>
            <a:ext cx="1524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555555"/>
                </a:solidFill>
                <a:latin typeface="Roboto"/>
                <a:ea typeface="Roboto"/>
                <a:cs typeface="Roboto"/>
                <a:sym typeface="Roboto"/>
              </a:rPr>
              <a:t>Support Team Establishment</a:t>
            </a:r>
            <a:endParaRPr lang="en-US" sz="1100"/>
          </a:p>
        </p:txBody>
      </p:sp>
      <p:sp>
        <p:nvSpPr>
          <p:cNvPr name="AutoShape 22" id="22"/>
          <p:cNvSpPr/>
          <p:nvPr/>
        </p:nvSpPr>
        <p:spPr>
          <a:xfrm rot="0" flipH="false" flipV="false">
            <a:off x="7747000" y="2540000"/>
            <a:ext cx="25400" cy="1270000"/>
          </a:xfrm>
          <a:prstGeom prst="roundRect">
            <a:avLst>
              <a:gd name="adj" fmla="val 0"/>
            </a:avLst>
          </a:prstGeom>
          <a:solidFill>
            <a:srgbClr val="D1D5D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128000" y="1524000"/>
            <a:ext cx="3302000" cy="3302000"/>
          </a:xfrm>
          <a:prstGeom prst="ellipse">
            <a:avLst/>
          </a:prstGeom>
          <a:solidFill>
            <a:srgbClr val="FFFFFF">
              <a:alpha val="100000"/>
            </a:srgbClr>
          </a:solidFill>
          <a:ln w="12700" cmpd="sng" cap="flat">
            <a:solidFill>
              <a:srgbClr val="D1D5DB">
                <a:alpha val="100000"/>
              </a:srgbClr>
            </a:solidFill>
            <a:prstDash val="solid"/>
            <a:round/>
          </a:ln>
          <a:effectLst>
            <a:outerShdw dir="5400000" dist="101600" blurRad="228600" algn="tl" rotWithShape="false">
              <a:srgbClr val="000000">
                <a:alpha val="8000"/>
              </a:srgbClr>
            </a:outerShdw>
          </a:effectLst>
        </p:spPr>
        <p:txBody>
          <a:bodyPr anchor="ctr" rtlCol="false" vert="horz" lIns="63500" rIns="63500" tIns="63500" bIns="63500"/>
          <a:lstStyle/>
          <a:p>
            <a:pPr algn="ctr">
              <a:defRPr/>
            </a:pPr>
            <a:endParaRPr/>
          </a:p>
        </p:txBody>
      </p:sp>
      <p:sp>
        <p:nvSpPr>
          <p:cNvPr name="AutoShape 24" id="24"/>
          <p:cNvSpPr/>
          <p:nvPr/>
        </p:nvSpPr>
        <p:spPr>
          <a:xfrm rot="0" flipH="false" flipV="false">
            <a:off x="9525000" y="1778000"/>
            <a:ext cx="508000" cy="508000"/>
          </a:xfrm>
          <a:prstGeom prst="ellipse">
            <a:avLst/>
          </a:prstGeom>
          <a:solidFill>
            <a:srgbClr val="DC2626">
              <a:alpha val="100000"/>
            </a:srgbClr>
          </a:solidFill>
          <a:ln w="25400" cmpd="sng" cap="flat">
            <a:solidFill>
              <a:srgbClr val="FFFFFF">
                <a:alpha val="100000"/>
              </a:srgbClr>
            </a:solidFill>
            <a:prstDash val="solid"/>
            <a:round/>
          </a:ln>
          <a:effectLst>
            <a:outerShdw dir="5400000" dist="76200" blurRad="177800" algn="tl" rotWithShape="false">
              <a:srgbClr val="000000">
                <a:alpha val="12000"/>
              </a:srgbClr>
            </a:outerShdw>
          </a:effectLst>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Poppins"/>
                <a:ea typeface="Poppins"/>
                <a:cs typeface="Poppins"/>
                <a:sym typeface="Poppins"/>
              </a:rPr>
              <a:t>3</a:t>
            </a:r>
            <a:endParaRPr lang="en-US" sz="1100"/>
          </a:p>
        </p:txBody>
      </p:sp>
      <p:sp>
        <p:nvSpPr>
          <p:cNvPr name="AutoShape 25" id="25"/>
          <p:cNvSpPr/>
          <p:nvPr/>
        </p:nvSpPr>
        <p:spPr>
          <a:xfrm rot="0" flipH="false" flipV="false">
            <a:off x="8001000" y="2413000"/>
            <a:ext cx="330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3333"/>
                </a:solidFill>
                <a:latin typeface="Poppins"/>
                <a:ea typeface="Poppins"/>
                <a:cs typeface="Poppins"/>
                <a:sym typeface="Poppins"/>
              </a:rPr>
              <a:t>Phase 3: Optimization &amp; Intelligence</a:t>
            </a:r>
            <a:endParaRPr lang="en-US" sz="1100"/>
          </a:p>
        </p:txBody>
      </p:sp>
      <p:pic>
        <p:nvPicPr>
          <p:cNvPr name="Picture 26" id="26"/>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8280400" y="2971800"/>
            <a:ext cx="228600" cy="228600"/>
          </a:xfrm>
          <a:prstGeom prst="rect">
            <a:avLst/>
          </a:prstGeom>
        </p:spPr>
      </p:pic>
      <p:sp>
        <p:nvSpPr>
          <p:cNvPr name="AutoShape 27" id="27"/>
          <p:cNvSpPr/>
          <p:nvPr/>
        </p:nvSpPr>
        <p:spPr>
          <a:xfrm rot="0" flipH="false" flipV="false">
            <a:off x="8153400" y="3276600"/>
            <a:ext cx="1397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555555"/>
                </a:solidFill>
                <a:latin typeface="Roboto"/>
                <a:ea typeface="Roboto"/>
                <a:cs typeface="Roboto"/>
                <a:sym typeface="Roboto"/>
              </a:rPr>
              <a:t>Deep Dive Analysis</a:t>
            </a:r>
            <a:endParaRPr lang="en-US" sz="1100"/>
          </a:p>
        </p:txBody>
      </p:sp>
      <p:pic>
        <p:nvPicPr>
          <p:cNvPr name="Picture 28" id="28"/>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9677400" y="2971800"/>
            <a:ext cx="228600" cy="228600"/>
          </a:xfrm>
          <a:prstGeom prst="rect">
            <a:avLst/>
          </a:prstGeom>
        </p:spPr>
      </p:pic>
      <p:sp>
        <p:nvSpPr>
          <p:cNvPr name="AutoShape 29" id="29"/>
          <p:cNvSpPr/>
          <p:nvPr/>
        </p:nvSpPr>
        <p:spPr>
          <a:xfrm rot="0" flipH="false" flipV="false">
            <a:off x="9550400" y="3276600"/>
            <a:ext cx="1524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555555"/>
                </a:solidFill>
                <a:latin typeface="Roboto"/>
                <a:ea typeface="Roboto"/>
                <a:cs typeface="Roboto"/>
                <a:sym typeface="Roboto"/>
              </a:rPr>
              <a:t>Ecosystem Integration</a:t>
            </a:r>
            <a:endParaRPr lang="en-US" sz="1100"/>
          </a:p>
        </p:txBody>
      </p:sp>
      <p:pic>
        <p:nvPicPr>
          <p:cNvPr name="Picture 30" id="30"/>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8978900" y="3886200"/>
            <a:ext cx="228600" cy="228600"/>
          </a:xfrm>
          <a:prstGeom prst="rect">
            <a:avLst/>
          </a:prstGeom>
        </p:spPr>
      </p:pic>
      <p:sp>
        <p:nvSpPr>
          <p:cNvPr name="AutoShape 31" id="31"/>
          <p:cNvSpPr/>
          <p:nvPr/>
        </p:nvSpPr>
        <p:spPr>
          <a:xfrm rot="0" flipH="false" flipV="false">
            <a:off x="8851900" y="4191000"/>
            <a:ext cx="1143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555555"/>
                </a:solidFill>
                <a:latin typeface="Roboto"/>
                <a:ea typeface="Roboto"/>
                <a:cs typeface="Roboto"/>
                <a:sym typeface="Roboto"/>
              </a:rPr>
              <a:t>AI Exploration</a:t>
            </a:r>
            <a:endParaRPr lang="en-US" sz="1100"/>
          </a:p>
        </p:txBody>
      </p:sp>
      <p:sp>
        <p:nvSpPr>
          <p:cNvPr name="AutoShape 32" id="32"/>
          <p:cNvSpPr/>
          <p:nvPr/>
        </p:nvSpPr>
        <p:spPr>
          <a:xfrm rot="0" flipH="false" flipV="false">
            <a:off x="609600" y="5181600"/>
            <a:ext cx="10972800" cy="558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555555"/>
                </a:solidFill>
                <a:latin typeface="Roboto"/>
                <a:ea typeface="Roboto"/>
                <a:cs typeface="Roboto"/>
                <a:sym typeface="Roboto"/>
              </a:rPr>
              <a:t>From foundation to leadership, our roadmap is clear and our goals are ambitious—to build a safer, smarter future.</a:t>
            </a:r>
            <a:endParaRPr lang="en-US" sz="1100"/>
          </a:p>
        </p:txBody>
      </p:sp>
      <p:sp>
        <p:nvSpPr>
          <p:cNvPr name="AutoShape 33" id="33"/>
          <p:cNvSpPr/>
          <p:nvPr/>
        </p:nvSpPr>
        <p:spPr>
          <a:xfrm rot="0" flipH="false" flipV="false">
            <a:off x="5207000" y="4851400"/>
            <a:ext cx="2286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100">
                <a:solidFill>
                  <a:srgbClr val="9CA3AF"/>
                </a:solidFill>
                <a:latin typeface="Roboto"/>
                <a:ea typeface="Roboto"/>
                <a:cs typeface="Roboto"/>
                <a:sym typeface="Roboto"/>
              </a:rPr>
              <a:t>Timeline: Next 6-12 Months</a:t>
            </a:r>
            <a:endParaRPr lang="en-US" sz="1100"/>
          </a:p>
        </p:txBody>
      </p:sp>
      <p:sp>
        <p:nvSpPr>
          <p:cNvPr name="AutoShape 34" id="34"/>
          <p:cNvSpPr/>
          <p:nvPr/>
        </p:nvSpPr>
        <p:spPr>
          <a:xfrm rot="0" flipH="false" flipV="false">
            <a:off x="1397000" y="4851400"/>
            <a:ext cx="2032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100">
                <a:solidFill>
                  <a:srgbClr val="9CA3AF"/>
                </a:solidFill>
                <a:latin typeface="Roboto"/>
                <a:ea typeface="Roboto"/>
                <a:cs typeface="Roboto"/>
                <a:sym typeface="Roboto"/>
              </a:rPr>
              <a:t>Timeline: In Progress</a:t>
            </a:r>
            <a:endParaRPr lang="en-US" sz="1100"/>
          </a:p>
        </p:txBody>
      </p:sp>
      <p:sp>
        <p:nvSpPr>
          <p:cNvPr name="AutoShape 35" id="35"/>
          <p:cNvSpPr/>
          <p:nvPr/>
        </p:nvSpPr>
        <p:spPr>
          <a:xfrm rot="0" flipH="false" flipV="false">
            <a:off x="8636000" y="4851400"/>
            <a:ext cx="2540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100">
                <a:solidFill>
                  <a:srgbClr val="9CA3AF"/>
                </a:solidFill>
                <a:latin typeface="Roboto"/>
                <a:ea typeface="Roboto"/>
                <a:cs typeface="Roboto"/>
                <a:sym typeface="Roboto"/>
              </a:rPr>
              <a:t>Timeline: Next 12-24 Months</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1016000" y="1524000"/>
            <a:ext cx="10160000" cy="279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DB0011"/>
                </a:solidFill>
                <a:latin typeface="Poppins"/>
                <a:ea typeface="Poppins"/>
                <a:cs typeface="Poppins"/>
                <a:sym typeface="Poppins"/>
              </a:rPr>
              <a:t>Q&amp;A</a:t>
            </a:r>
            <a:endParaRPr lang="en-US" sz="1100"/>
          </a:p>
        </p:txBody>
      </p:sp>
      <p:cxnSp>
        <p:nvCxnSpPr>
          <p:cNvPr name="Connector 4" id="4"/>
          <p:cNvCxnSpPr/>
          <p:nvPr/>
        </p:nvCxnSpPr>
        <p:spPr>
          <a:xfrm rot="-8594" flipH="false" flipV="false">
            <a:off x="3556008" y="4438650"/>
            <a:ext cx="5080000" cy="12700"/>
          </a:xfrm>
          <a:prstGeom prst="straightConnector1">
            <a:avLst/>
          </a:prstGeom>
          <a:solidFill>
            <a:srgbClr val="DEE0E3">
              <a:alpha val="100000"/>
            </a:srgbClr>
          </a:solidFill>
          <a:ln w="25400" cmpd="sng" cap="flat">
            <a:solidFill>
              <a:srgbClr val="DB0011">
                <a:alpha val="100000"/>
              </a:srgbClr>
            </a:solidFill>
            <a:prstDash val="solid"/>
            <a:round/>
            <a:headEnd type="none" w="lg" len="lg"/>
            <a:tailEnd type="none" w="lg" len="lg"/>
          </a:ln>
        </p:spPr>
      </p:cxnSp>
      <p:sp>
        <p:nvSpPr>
          <p:cNvPr name="AutoShape 5" id="5"/>
          <p:cNvSpPr/>
          <p:nvPr/>
        </p:nvSpPr>
        <p:spPr>
          <a:xfrm rot="0" flipH="false" flipV="false">
            <a:off x="1016000" y="4826000"/>
            <a:ext cx="10160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3600">
                <a:solidFill>
                  <a:srgbClr val="333333"/>
                </a:solidFill>
                <a:latin typeface="Roboto"/>
                <a:ea typeface="Roboto"/>
                <a:cs typeface="Roboto"/>
                <a:sym typeface="Roboto"/>
              </a:rPr>
              <a:t>Thank You</a:t>
            </a:r>
            <a:endParaRPr lang="en-US" sz="1100"/>
          </a:p>
        </p:txBody>
      </p:sp>
      <p:pic>
        <p:nvPicPr>
          <p:cNvPr name="Picture 6" id="6"/>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